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5486400" cy="54864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5029200"/>
            <a:ext cx="2743200" cy="27432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36576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
            <a:ext cx="11064240" cy="457200"/>
          </a:xfrm>
          <a:prstGeom prst="rect">
            <a:avLst/>
          </a:prstGeom>
          <a:noFill/>
        </p:spPr>
        <p:txBody>
          <a:bodyPr wrap="none">
            <a:spAutoFit/>
          </a:bodyPr>
          <a:lstStyle/>
          <a:p>
            <a:pPr algn="ctr"/>
            <a:r>
              <a:rPr sz="1800" b="1" rtl="1">
                <a:solidFill>
                  <a:srgbClr val="FBBF24"/>
                </a:solidFill>
                <a:latin typeface="Arial"/>
              </a:rPr>
              <a:t>جامعة أجدابيا  —  كلية تقنية المعلومات</a:t>
            </a:r>
          </a:p>
        </p:txBody>
      </p:sp>
      <p:sp>
        <p:nvSpPr>
          <p:cNvPr id="7" name="TextBox 6"/>
          <p:cNvSpPr txBox="1"/>
          <p:nvPr/>
        </p:nvSpPr>
        <p:spPr>
          <a:xfrm>
            <a:off x="548640" y="1737360"/>
            <a:ext cx="11064240" cy="1097280"/>
          </a:xfrm>
          <a:prstGeom prst="rect">
            <a:avLst/>
          </a:prstGeom>
          <a:noFill/>
        </p:spPr>
        <p:txBody>
          <a:bodyPr wrap="square">
            <a:spAutoFit/>
          </a:bodyPr>
          <a:lstStyle/>
          <a:p>
            <a:pPr algn="ctr"/>
            <a:r>
              <a:rPr sz="3400" b="1" rtl="1">
                <a:solidFill>
                  <a:srgbClr val="F8FAFC"/>
                </a:solidFill>
                <a:latin typeface="Arial"/>
              </a:rPr>
              <a:t>نظام محاكاة لتداول فائض الطاقة الشمسية</a:t>
            </a:r>
          </a:p>
          <a:p>
            <a:pPr algn="ctr"/>
            <a:r>
              <a:rPr sz="2800" b="1" rtl="1">
                <a:solidFill>
                  <a:srgbClr val="F59E0B"/>
                </a:solidFill>
                <a:latin typeface="Arial"/>
              </a:rPr>
              <a:t>باستخدام المحفظة الرقمية الافتراضية</a:t>
            </a:r>
          </a:p>
        </p:txBody>
      </p:sp>
      <p:sp>
        <p:nvSpPr>
          <p:cNvPr id="8" name="TextBox 7"/>
          <p:cNvSpPr txBox="1"/>
          <p:nvPr/>
        </p:nvSpPr>
        <p:spPr>
          <a:xfrm>
            <a:off x="548640" y="3703320"/>
            <a:ext cx="11064240" cy="640080"/>
          </a:xfrm>
          <a:prstGeom prst="rect">
            <a:avLst/>
          </a:prstGeom>
          <a:noFill/>
        </p:spPr>
        <p:txBody>
          <a:bodyPr wrap="none">
            <a:spAutoFit/>
          </a:bodyPr>
          <a:lstStyle/>
          <a:p>
            <a:pPr algn="ctr"/>
            <a:r>
              <a:rPr sz="1600" i="1">
                <a:solidFill>
                  <a:srgbClr val="C0C8D4"/>
                </a:solidFill>
                <a:latin typeface="Calibri"/>
              </a:rPr>
              <a:t>A Simulation System for Solar Energy Trading Using Virtual Digital Wallets</a:t>
            </a:r>
          </a:p>
        </p:txBody>
      </p:sp>
      <p:sp>
        <p:nvSpPr>
          <p:cNvPr id="9" name="Rectangle 8"/>
          <p:cNvSpPr/>
          <p:nvPr/>
        </p:nvSpPr>
        <p:spPr>
          <a:xfrm>
            <a:off x="5029200" y="4434840"/>
            <a:ext cx="2103120" cy="9525"/>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4663440"/>
            <a:ext cx="9418320" cy="365760"/>
          </a:xfrm>
          <a:prstGeom prst="rect">
            <a:avLst/>
          </a:prstGeom>
          <a:noFill/>
        </p:spPr>
        <p:txBody>
          <a:bodyPr wrap="none" lIns="0" rIns="0">
            <a:spAutoFit/>
          </a:bodyPr>
          <a:lstStyle/>
          <a:p>
            <a:pPr algn="ctr"/>
            <a:r>
              <a:rPr sz="1600" b="1" rtl="1">
                <a:solidFill>
                  <a:srgbClr val="F8FAFC"/>
                </a:solidFill>
                <a:latin typeface="Arial"/>
              </a:rPr>
              <a:t>  نفيسة محمود محمد  —  رقم القيد: 82020013</a:t>
            </a:r>
            <a:r>
              <a:rPr sz="1400" rtl="1">
                <a:solidFill>
                  <a:srgbClr val="FBBF24"/>
                </a:solidFill>
                <a:latin typeface="Arial"/>
              </a:rPr>
              <a:t>إعداد الطالبة:  </a:t>
            </a:r>
          </a:p>
        </p:txBody>
      </p:sp>
      <p:sp>
        <p:nvSpPr>
          <p:cNvPr id="11" name="TextBox 10"/>
          <p:cNvSpPr txBox="1"/>
          <p:nvPr/>
        </p:nvSpPr>
        <p:spPr>
          <a:xfrm>
            <a:off x="1371600" y="5074920"/>
            <a:ext cx="9418320" cy="365760"/>
          </a:xfrm>
          <a:prstGeom prst="rect">
            <a:avLst/>
          </a:prstGeom>
          <a:noFill/>
        </p:spPr>
        <p:txBody>
          <a:bodyPr wrap="none" lIns="0" rIns="0">
            <a:spAutoFit/>
          </a:bodyPr>
          <a:lstStyle/>
          <a:p>
            <a:pPr algn="ctr"/>
            <a:r>
              <a:rPr sz="1600" b="1" rtl="1">
                <a:solidFill>
                  <a:srgbClr val="F8FAFC"/>
                </a:solidFill>
                <a:latin typeface="Arial"/>
              </a:rPr>
              <a:t>  أ. عبدالحميد الذيب</a:t>
            </a:r>
            <a:r>
              <a:rPr sz="1400" rtl="1">
                <a:solidFill>
                  <a:srgbClr val="FBBF24"/>
                </a:solidFill>
                <a:latin typeface="Arial"/>
              </a:rPr>
              <a:t>إشراف:  </a:t>
            </a:r>
          </a:p>
        </p:txBody>
      </p:sp>
      <p:sp>
        <p:nvSpPr>
          <p:cNvPr id="12" name="TextBox 11"/>
          <p:cNvSpPr txBox="1"/>
          <p:nvPr/>
        </p:nvSpPr>
        <p:spPr>
          <a:xfrm>
            <a:off x="1371600" y="5486400"/>
            <a:ext cx="9418320" cy="365760"/>
          </a:xfrm>
          <a:prstGeom prst="rect">
            <a:avLst/>
          </a:prstGeom>
          <a:noFill/>
        </p:spPr>
        <p:txBody>
          <a:bodyPr wrap="none" lIns="0" rIns="0">
            <a:spAutoFit/>
          </a:bodyPr>
          <a:lstStyle/>
          <a:p>
            <a:pPr algn="ctr"/>
            <a:r>
              <a:rPr sz="1600" b="1" rtl="1">
                <a:solidFill>
                  <a:srgbClr val="F8FAFC"/>
                </a:solidFill>
                <a:latin typeface="Arial"/>
              </a:rPr>
              <a:t>  OEA Green</a:t>
            </a:r>
            <a:r>
              <a:rPr sz="1400" rtl="1">
                <a:solidFill>
                  <a:srgbClr val="FBBF24"/>
                </a:solidFill>
                <a:latin typeface="Arial"/>
              </a:rPr>
              <a:t>بدعم من:  </a:t>
            </a:r>
          </a:p>
        </p:txBody>
      </p:sp>
      <p:sp>
        <p:nvSpPr>
          <p:cNvPr id="13" name="TextBox 12"/>
          <p:cNvSpPr txBox="1"/>
          <p:nvPr/>
        </p:nvSpPr>
        <p:spPr>
          <a:xfrm>
            <a:off x="1371600" y="5897880"/>
            <a:ext cx="9418320" cy="365760"/>
          </a:xfrm>
          <a:prstGeom prst="rect">
            <a:avLst/>
          </a:prstGeom>
          <a:noFill/>
        </p:spPr>
        <p:txBody>
          <a:bodyPr wrap="none" lIns="0" rIns="0">
            <a:spAutoFit/>
          </a:bodyPr>
          <a:lstStyle/>
          <a:p>
            <a:pPr algn="ctr"/>
            <a:r>
              <a:rPr sz="1600" b="1" rtl="1">
                <a:solidFill>
                  <a:srgbClr val="F8FAFC"/>
                </a:solidFill>
                <a:latin typeface="Arial"/>
              </a:rPr>
              <a:t>  العام الدراسي 2024 / 2025</a:t>
            </a:r>
            <a:r>
              <a:rPr sz="1400" rtl="1">
                <a:solidFill>
                  <a:srgbClr val="FBBF24"/>
                </a:solidFill>
                <a:latin typeface="Arial"/>
              </a:rPr>
              <a:t>السنة: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2286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11064240" cy="914400"/>
          </a:xfrm>
          <a:prstGeom prst="rect">
            <a:avLst/>
          </a:prstGeom>
          <a:noFill/>
        </p:spPr>
        <p:txBody>
          <a:bodyPr wrap="square" lIns="0" rIns="0">
            <a:spAutoFit/>
          </a:bodyPr>
          <a:lstStyle/>
          <a:p>
            <a:pPr algn="r"/>
            <a:r>
              <a:rPr sz="3200" b="1" rtl="1">
                <a:solidFill>
                  <a:srgbClr val="F8FAFC"/>
                </a:solidFill>
                <a:latin typeface="Arial"/>
              </a:rPr>
              <a:t>الإهداء والشكر والتقدير</a:t>
            </a:r>
          </a:p>
          <a:p>
            <a:pPr algn="r"/>
            <a:r>
              <a:rPr sz="1300" i="1">
                <a:solidFill>
                  <a:srgbClr val="F59E0B"/>
                </a:solidFill>
                <a:latin typeface="Calibri"/>
              </a:rPr>
              <a:t>Dedication and Acknowledgments</a:t>
            </a:r>
          </a:p>
        </p:txBody>
      </p:sp>
      <p:sp>
        <p:nvSpPr>
          <p:cNvPr id="5" name="Rounded Rectangle 4"/>
          <p:cNvSpPr/>
          <p:nvPr/>
        </p:nvSpPr>
        <p:spPr>
          <a:xfrm>
            <a:off x="6263640" y="1965960"/>
            <a:ext cx="5394960" cy="4114800"/>
          </a:xfrm>
          <a:prstGeom prst="roundRect">
            <a:avLst>
              <a:gd name="adj" fmla="val 5000"/>
            </a:avLst>
          </a:prstGeom>
          <a:solidFill>
            <a:srgbClr val="142A4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bIns="228600" wrap="square"/>
          <a:lstStyle/>
          <a:p>
            <a:pPr algn="r"/>
            <a:r>
              <a:rPr sz="2200" b="1" rtl="1">
                <a:solidFill>
                  <a:srgbClr val="FBBF24"/>
                </a:solidFill>
                <a:latin typeface="Arial"/>
              </a:rPr>
              <a:t>الإهداء</a:t>
            </a:r>
          </a:p>
          <a:p>
            <a:pPr algn="r">
              <a:spcBef>
                <a:spcPts val="1400"/>
              </a:spcBef>
            </a:pPr>
            <a:r>
              <a:rPr sz="1600" rtl="1">
                <a:solidFill>
                  <a:srgbClr val="F8FAFC"/>
                </a:solidFill>
                <a:latin typeface="Arial"/>
              </a:rPr>
              <a:t>إلى والديّ الكريمين اللذين أحاطاني بالدعم والمحبة،
وإلى إخوتي وأخواتي، وإلى كل من ساندني في مسيرتي العلمية،
أُهدي ثمرة هذا الجهد المتواضع.</a:t>
            </a:r>
          </a:p>
        </p:txBody>
      </p:sp>
      <p:sp>
        <p:nvSpPr>
          <p:cNvPr id="6" name="Rounded Rectangle 5"/>
          <p:cNvSpPr/>
          <p:nvPr/>
        </p:nvSpPr>
        <p:spPr>
          <a:xfrm>
            <a:off x="502920" y="1965960"/>
            <a:ext cx="5394960" cy="4114800"/>
          </a:xfrm>
          <a:prstGeom prst="roundRect">
            <a:avLst>
              <a:gd name="adj" fmla="val 5000"/>
            </a:avLst>
          </a:prstGeom>
          <a:solidFill>
            <a:srgbClr val="142A4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bIns="228600" wrap="square"/>
          <a:lstStyle/>
          <a:p>
            <a:pPr algn="r"/>
            <a:r>
              <a:rPr sz="2200" b="1" rtl="1">
                <a:solidFill>
                  <a:srgbClr val="FBBF24"/>
                </a:solidFill>
                <a:latin typeface="Arial"/>
              </a:rPr>
              <a:t>الشكر والتقدير</a:t>
            </a:r>
          </a:p>
          <a:p>
            <a:pPr algn="r">
              <a:spcBef>
                <a:spcPts val="1400"/>
              </a:spcBef>
            </a:pPr>
            <a:r>
              <a:rPr sz="1600" rtl="1">
                <a:solidFill>
                  <a:srgbClr val="F8FAFC"/>
                </a:solidFill>
                <a:latin typeface="Arial"/>
              </a:rPr>
              <a:t>الشكر موصول لأستاذي الفاضل أ. عبدالحميد الذيب لتوجيهه وإشرافه،
ولمؤسسة OEA Green على رعايتها ودعمها للمشروع،
ولأعضاء لجنة المناقشة وكلية تقنية المعلومات بجامعة أجدابيا.</a:t>
            </a:r>
          </a:p>
        </p:txBody>
      </p:sp>
      <p:sp>
        <p:nvSpPr>
          <p:cNvPr id="7" name="Rectangle 6"/>
          <p:cNvSpPr/>
          <p:nvPr/>
        </p:nvSpPr>
        <p:spPr>
          <a:xfrm>
            <a:off x="548640" y="6400800"/>
            <a:ext cx="11064240" cy="9525"/>
          </a:xfrm>
          <a:prstGeom prst="rect">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5943600" cy="320040"/>
          </a:xfrm>
          <a:prstGeom prst="rect">
            <a:avLst/>
          </a:prstGeom>
          <a:noFill/>
        </p:spPr>
        <p:txBody>
          <a:bodyPr wrap="none" lIns="0" rIns="0">
            <a:spAutoFit/>
          </a:bodyPr>
          <a:lstStyle/>
          <a:p>
            <a:pPr algn="l"/>
            <a:r>
              <a:rPr sz="900">
                <a:solidFill>
                  <a:srgbClr val="C0C8D4"/>
                </a:solidFill>
                <a:latin typeface="Calibri"/>
              </a:rPr>
              <a:t>Solar Trading Simulation  |  Ajdabiya University</a:t>
            </a:r>
          </a:p>
        </p:txBody>
      </p:sp>
      <p:sp>
        <p:nvSpPr>
          <p:cNvPr id="9" name="TextBox 8"/>
          <p:cNvSpPr txBox="1"/>
          <p:nvPr/>
        </p:nvSpPr>
        <p:spPr>
          <a:xfrm>
            <a:off x="10241280" y="6473952"/>
            <a:ext cx="1371600" cy="320040"/>
          </a:xfrm>
          <a:prstGeom prst="rect">
            <a:avLst/>
          </a:prstGeom>
          <a:noFill/>
        </p:spPr>
        <p:txBody>
          <a:bodyPr wrap="none" lIns="0" rIns="0">
            <a:spAutoFit/>
          </a:bodyPr>
          <a:lstStyle/>
          <a:p>
            <a:pPr algn="r"/>
            <a:r>
              <a:rPr sz="1000" b="1">
                <a:solidFill>
                  <a:srgbClr val="F59E0B"/>
                </a:solidFill>
                <a:latin typeface="Calibri"/>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2286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11064240" cy="914400"/>
          </a:xfrm>
          <a:prstGeom prst="rect">
            <a:avLst/>
          </a:prstGeom>
          <a:noFill/>
        </p:spPr>
        <p:txBody>
          <a:bodyPr wrap="square" lIns="0" rIns="0">
            <a:spAutoFit/>
          </a:bodyPr>
          <a:lstStyle/>
          <a:p>
            <a:pPr algn="r"/>
            <a:r>
              <a:rPr sz="3200" b="1" rtl="1">
                <a:solidFill>
                  <a:srgbClr val="F8FAFC"/>
                </a:solidFill>
                <a:latin typeface="Arial"/>
              </a:rPr>
              <a:t>واقع الطاقة في ليبيا</a:t>
            </a:r>
          </a:p>
          <a:p>
            <a:pPr algn="r"/>
            <a:r>
              <a:rPr sz="1300" i="1">
                <a:solidFill>
                  <a:srgbClr val="F59E0B"/>
                </a:solidFill>
                <a:latin typeface="Calibri"/>
              </a:rPr>
              <a:t>The Energy Context in Libya</a:t>
            </a:r>
          </a:p>
        </p:txBody>
      </p:sp>
      <p:sp>
        <p:nvSpPr>
          <p:cNvPr id="5" name="TextBox 4"/>
          <p:cNvSpPr txBox="1"/>
          <p:nvPr/>
        </p:nvSpPr>
        <p:spPr>
          <a:xfrm>
            <a:off x="731520" y="1828800"/>
            <a:ext cx="10698480" cy="4297680"/>
          </a:xfrm>
          <a:prstGeom prst="rect">
            <a:avLst/>
          </a:prstGeom>
          <a:noFill/>
        </p:spPr>
        <p:txBody>
          <a:bodyPr wrap="square" tIns="0" bIns="0">
            <a:spAutoFit/>
          </a:bodyPr>
          <a:lstStyle/>
          <a:p>
            <a:pPr algn="r">
              <a:spcAft>
                <a:spcPts val="1200"/>
              </a:spcAft>
            </a:pPr>
            <a:r>
              <a:rPr sz="1800" b="1">
                <a:solidFill>
                  <a:srgbClr val="F59E0B"/>
                </a:solidFill>
                <a:latin typeface="Calibri"/>
              </a:rPr>
              <a:t>▪  </a:t>
            </a:r>
            <a:r>
              <a:rPr sz="1800" rtl="1">
                <a:solidFill>
                  <a:srgbClr val="F8FAFC"/>
                </a:solidFill>
                <a:latin typeface="Arial"/>
              </a:rPr>
              <a:t>أزمة كهربائية مزمنة تشمل انقطاعات يومية طويلة في مختلف مناطق البلاد.</a:t>
            </a:r>
          </a:p>
          <a:p>
            <a:pPr algn="r">
              <a:spcAft>
                <a:spcPts val="1200"/>
              </a:spcAft>
            </a:pPr>
            <a:r>
              <a:rPr sz="1800" b="1">
                <a:solidFill>
                  <a:srgbClr val="F59E0B"/>
                </a:solidFill>
                <a:latin typeface="Calibri"/>
              </a:rPr>
              <a:t>▪  </a:t>
            </a:r>
            <a:r>
              <a:rPr sz="1800" rtl="1">
                <a:solidFill>
                  <a:srgbClr val="F8FAFC"/>
                </a:solidFill>
                <a:latin typeface="Arial"/>
              </a:rPr>
              <a:t>ارتفاع تكاليف تشغيل المولدات الاحتياطية وأثرها المباشر على الأسر والاقتصاد.</a:t>
            </a:r>
          </a:p>
          <a:p>
            <a:pPr algn="r">
              <a:spcAft>
                <a:spcPts val="1200"/>
              </a:spcAft>
            </a:pPr>
            <a:r>
              <a:rPr sz="1800" b="1">
                <a:solidFill>
                  <a:srgbClr val="F59E0B"/>
                </a:solidFill>
                <a:latin typeface="Calibri"/>
              </a:rPr>
              <a:t>▪  </a:t>
            </a:r>
            <a:r>
              <a:rPr sz="1800" rtl="1">
                <a:solidFill>
                  <a:srgbClr val="F8FAFC"/>
                </a:solidFill>
                <a:latin typeface="Arial"/>
              </a:rPr>
              <a:t>اعتماد الشبكة الوطنية بشكل كبير على المحروقات مما يزيد الأعباء البيئية والمالية.</a:t>
            </a:r>
          </a:p>
          <a:p>
            <a:pPr algn="r">
              <a:spcAft>
                <a:spcPts val="1200"/>
              </a:spcAft>
            </a:pPr>
            <a:r>
              <a:rPr sz="1800" b="1">
                <a:solidFill>
                  <a:srgbClr val="F59E0B"/>
                </a:solidFill>
                <a:latin typeface="Calibri"/>
              </a:rPr>
              <a:t>▪  </a:t>
            </a:r>
            <a:r>
              <a:rPr sz="1800" rtl="1">
                <a:solidFill>
                  <a:srgbClr val="F8FAFC"/>
                </a:solidFill>
                <a:latin typeface="Arial"/>
              </a:rPr>
              <a:t>توجّه متسارع نحو الطاقة الشمسية كحل مستدام يناسب المناخ الليبي.</a:t>
            </a:r>
          </a:p>
          <a:p>
            <a:pPr algn="r">
              <a:spcAft>
                <a:spcPts val="1200"/>
              </a:spcAft>
            </a:pPr>
            <a:r>
              <a:rPr sz="1800" b="1">
                <a:solidFill>
                  <a:srgbClr val="F59E0B"/>
                </a:solidFill>
                <a:latin typeface="Calibri"/>
              </a:rPr>
              <a:t>▪  </a:t>
            </a:r>
            <a:r>
              <a:rPr sz="1800" rtl="1">
                <a:solidFill>
                  <a:srgbClr val="F8FAFC"/>
                </a:solidFill>
                <a:latin typeface="Arial"/>
              </a:rPr>
              <a:t>انتشار الألواح الكهروضوئية على أسطح المنازل مع غياب آلية للاستفادة من الفائض.</a:t>
            </a:r>
          </a:p>
          <a:p>
            <a:pPr algn="r">
              <a:spcAft>
                <a:spcPts val="1200"/>
              </a:spcAft>
            </a:pPr>
            <a:r>
              <a:rPr sz="1800" b="1">
                <a:solidFill>
                  <a:srgbClr val="F59E0B"/>
                </a:solidFill>
                <a:latin typeface="Calibri"/>
              </a:rPr>
              <a:t>▪  </a:t>
            </a:r>
            <a:r>
              <a:rPr sz="1800" rtl="1">
                <a:solidFill>
                  <a:srgbClr val="F8FAFC"/>
                </a:solidFill>
                <a:latin typeface="Arial"/>
              </a:rPr>
              <a:t>الحاجة إلى منظومة رقمية تنظّم تبادل الطاقة بين المنازل بشفافية وكفاءة.</a:t>
            </a:r>
          </a:p>
        </p:txBody>
      </p:sp>
      <p:sp>
        <p:nvSpPr>
          <p:cNvPr id="6" name="Rectangle 5"/>
          <p:cNvSpPr/>
          <p:nvPr/>
        </p:nvSpPr>
        <p:spPr>
          <a:xfrm>
            <a:off x="548640" y="6400800"/>
            <a:ext cx="11064240" cy="9525"/>
          </a:xfrm>
          <a:prstGeom prst="rect">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5943600" cy="320040"/>
          </a:xfrm>
          <a:prstGeom prst="rect">
            <a:avLst/>
          </a:prstGeom>
          <a:noFill/>
        </p:spPr>
        <p:txBody>
          <a:bodyPr wrap="none" lIns="0" rIns="0">
            <a:spAutoFit/>
          </a:bodyPr>
          <a:lstStyle/>
          <a:p>
            <a:pPr algn="l"/>
            <a:r>
              <a:rPr sz="900">
                <a:solidFill>
                  <a:srgbClr val="C0C8D4"/>
                </a:solidFill>
                <a:latin typeface="Calibri"/>
              </a:rPr>
              <a:t>Solar Trading Simulation  |  Ajdabiya University</a:t>
            </a:r>
          </a:p>
        </p:txBody>
      </p:sp>
      <p:sp>
        <p:nvSpPr>
          <p:cNvPr id="8" name="TextBox 7"/>
          <p:cNvSpPr txBox="1"/>
          <p:nvPr/>
        </p:nvSpPr>
        <p:spPr>
          <a:xfrm>
            <a:off x="10241280" y="6473952"/>
            <a:ext cx="1371600" cy="320040"/>
          </a:xfrm>
          <a:prstGeom prst="rect">
            <a:avLst/>
          </a:prstGeom>
          <a:noFill/>
        </p:spPr>
        <p:txBody>
          <a:bodyPr wrap="none" lIns="0" rIns="0">
            <a:spAutoFit/>
          </a:bodyPr>
          <a:lstStyle/>
          <a:p>
            <a:pPr algn="r"/>
            <a:r>
              <a:rPr sz="1000" b="1">
                <a:solidFill>
                  <a:srgbClr val="F59E0B"/>
                </a:solidFill>
                <a:latin typeface="Calibri"/>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2286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11064240" cy="914400"/>
          </a:xfrm>
          <a:prstGeom prst="rect">
            <a:avLst/>
          </a:prstGeom>
          <a:noFill/>
        </p:spPr>
        <p:txBody>
          <a:bodyPr wrap="square" lIns="0" rIns="0">
            <a:spAutoFit/>
          </a:bodyPr>
          <a:lstStyle/>
          <a:p>
            <a:pPr algn="r"/>
            <a:r>
              <a:rPr sz="3200" b="1" rtl="1">
                <a:solidFill>
                  <a:srgbClr val="F8FAFC"/>
                </a:solidFill>
                <a:latin typeface="Arial"/>
              </a:rPr>
              <a:t>الإمكانات الشمسية في مدينة أجدابيا</a:t>
            </a:r>
          </a:p>
          <a:p>
            <a:pPr algn="r"/>
            <a:r>
              <a:rPr sz="1300" i="1">
                <a:solidFill>
                  <a:srgbClr val="F59E0B"/>
                </a:solidFill>
                <a:latin typeface="Calibri"/>
              </a:rPr>
              <a:t>Solar Potential in Ajdabiya</a:t>
            </a:r>
          </a:p>
        </p:txBody>
      </p:sp>
      <p:sp>
        <p:nvSpPr>
          <p:cNvPr id="5" name="Rounded Rectangle 4"/>
          <p:cNvSpPr/>
          <p:nvPr/>
        </p:nvSpPr>
        <p:spPr>
          <a:xfrm>
            <a:off x="548640" y="1828800"/>
            <a:ext cx="2743200" cy="1463040"/>
          </a:xfrm>
          <a:prstGeom prst="roundRect">
            <a:avLst>
              <a:gd name="adj" fmla="val 8000"/>
            </a:avLst>
          </a:prstGeom>
          <a:solidFill>
            <a:srgbClr val="142A4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r>
              <a:rPr sz="2800" b="1">
                <a:solidFill>
                  <a:srgbClr val="F59E0B"/>
                </a:solidFill>
                <a:latin typeface="Calibri"/>
              </a:rPr>
              <a:t>7.0</a:t>
            </a:r>
          </a:p>
          <a:p>
            <a:pPr algn="ctr">
              <a:spcBef>
                <a:spcPts val="600"/>
              </a:spcBef>
            </a:pPr>
            <a:r>
              <a:rPr sz="1200" rtl="1">
                <a:solidFill>
                  <a:srgbClr val="C0C8D4"/>
                </a:solidFill>
                <a:latin typeface="Arial"/>
              </a:rPr>
              <a:t>الإشعاع الشمسي اليومي  (kWh/m²)</a:t>
            </a:r>
          </a:p>
        </p:txBody>
      </p:sp>
      <p:sp>
        <p:nvSpPr>
          <p:cNvPr id="6" name="Rounded Rectangle 5"/>
          <p:cNvSpPr/>
          <p:nvPr/>
        </p:nvSpPr>
        <p:spPr>
          <a:xfrm>
            <a:off x="3429000" y="1828800"/>
            <a:ext cx="2743200" cy="1463040"/>
          </a:xfrm>
          <a:prstGeom prst="roundRect">
            <a:avLst>
              <a:gd name="adj" fmla="val 8000"/>
            </a:avLst>
          </a:prstGeom>
          <a:solidFill>
            <a:srgbClr val="142A4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r>
              <a:rPr sz="2800" b="1">
                <a:solidFill>
                  <a:srgbClr val="F59E0B"/>
                </a:solidFill>
                <a:latin typeface="Calibri"/>
              </a:rPr>
              <a:t>3.0</a:t>
            </a:r>
          </a:p>
          <a:p>
            <a:pPr algn="ctr">
              <a:spcBef>
                <a:spcPts val="600"/>
              </a:spcBef>
            </a:pPr>
            <a:r>
              <a:rPr sz="1200" rtl="1">
                <a:solidFill>
                  <a:srgbClr val="C0C8D4"/>
                </a:solidFill>
                <a:latin typeface="Arial"/>
              </a:rPr>
              <a:t>قدرة الألواح المركّبة  (kWp)</a:t>
            </a:r>
          </a:p>
        </p:txBody>
      </p:sp>
      <p:sp>
        <p:nvSpPr>
          <p:cNvPr id="7" name="Rounded Rectangle 6"/>
          <p:cNvSpPr/>
          <p:nvPr/>
        </p:nvSpPr>
        <p:spPr>
          <a:xfrm>
            <a:off x="6309360" y="1828800"/>
            <a:ext cx="2743200" cy="1463040"/>
          </a:xfrm>
          <a:prstGeom prst="roundRect">
            <a:avLst>
              <a:gd name="adj" fmla="val 8000"/>
            </a:avLst>
          </a:prstGeom>
          <a:solidFill>
            <a:srgbClr val="142A4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r>
              <a:rPr sz="2800" b="1">
                <a:solidFill>
                  <a:srgbClr val="F59E0B"/>
                </a:solidFill>
                <a:latin typeface="Calibri"/>
              </a:rPr>
              <a:t>18</a:t>
            </a:r>
          </a:p>
          <a:p>
            <a:pPr algn="ctr">
              <a:spcBef>
                <a:spcPts val="600"/>
              </a:spcBef>
            </a:pPr>
            <a:r>
              <a:rPr sz="1200" rtl="1">
                <a:solidFill>
                  <a:srgbClr val="C0C8D4"/>
                </a:solidFill>
                <a:latin typeface="Arial"/>
              </a:rPr>
              <a:t>الإنتاج اليومي المتوقع  (kWh)</a:t>
            </a:r>
          </a:p>
        </p:txBody>
      </p:sp>
      <p:sp>
        <p:nvSpPr>
          <p:cNvPr id="8" name="Rounded Rectangle 7"/>
          <p:cNvSpPr/>
          <p:nvPr/>
        </p:nvSpPr>
        <p:spPr>
          <a:xfrm>
            <a:off x="9189720" y="1828800"/>
            <a:ext cx="2423160" cy="1463040"/>
          </a:xfrm>
          <a:prstGeom prst="roundRect">
            <a:avLst>
              <a:gd name="adj" fmla="val 8000"/>
            </a:avLst>
          </a:prstGeom>
          <a:solidFill>
            <a:srgbClr val="142A4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r>
              <a:rPr sz="2800" b="1">
                <a:solidFill>
                  <a:srgbClr val="F59E0B"/>
                </a:solidFill>
                <a:latin typeface="Calibri"/>
              </a:rPr>
              <a:t>12</a:t>
            </a:r>
          </a:p>
          <a:p>
            <a:pPr algn="ctr">
              <a:spcBef>
                <a:spcPts val="600"/>
              </a:spcBef>
            </a:pPr>
            <a:r>
              <a:rPr sz="1200" rtl="1">
                <a:solidFill>
                  <a:srgbClr val="C0C8D4"/>
                </a:solidFill>
                <a:latin typeface="Arial"/>
              </a:rPr>
              <a:t>استهلاك المنزل  (kWh)</a:t>
            </a:r>
          </a:p>
        </p:txBody>
      </p:sp>
      <p:sp>
        <p:nvSpPr>
          <p:cNvPr id="9" name="TextBox 8"/>
          <p:cNvSpPr txBox="1"/>
          <p:nvPr/>
        </p:nvSpPr>
        <p:spPr>
          <a:xfrm>
            <a:off x="731520" y="3566160"/>
            <a:ext cx="10698480" cy="4297680"/>
          </a:xfrm>
          <a:prstGeom prst="rect">
            <a:avLst/>
          </a:prstGeom>
          <a:noFill/>
        </p:spPr>
        <p:txBody>
          <a:bodyPr wrap="square" tIns="0" bIns="0">
            <a:spAutoFit/>
          </a:bodyPr>
          <a:lstStyle/>
          <a:p>
            <a:pPr algn="r">
              <a:spcAft>
                <a:spcPts val="1200"/>
              </a:spcAft>
            </a:pPr>
            <a:r>
              <a:rPr sz="1600" b="1">
                <a:solidFill>
                  <a:srgbClr val="F59E0B"/>
                </a:solidFill>
                <a:latin typeface="Calibri"/>
              </a:rPr>
              <a:t>▪  </a:t>
            </a:r>
            <a:r>
              <a:rPr sz="1600" rtl="1">
                <a:solidFill>
                  <a:srgbClr val="F8FAFC"/>
                </a:solidFill>
                <a:latin typeface="Arial"/>
              </a:rPr>
              <a:t>يقع خط عرض أجدابيا في نطاق مثالي لتوليد الطاقة الشمسية على مدار السنة.</a:t>
            </a:r>
          </a:p>
          <a:p>
            <a:pPr algn="r">
              <a:spcAft>
                <a:spcPts val="1200"/>
              </a:spcAft>
            </a:pPr>
            <a:r>
              <a:rPr sz="1600" b="1">
                <a:solidFill>
                  <a:srgbClr val="F59E0B"/>
                </a:solidFill>
                <a:latin typeface="Calibri"/>
              </a:rPr>
              <a:t>▪  </a:t>
            </a:r>
            <a:r>
              <a:rPr sz="1600" rtl="1">
                <a:solidFill>
                  <a:srgbClr val="F8FAFC"/>
                </a:solidFill>
                <a:latin typeface="Arial"/>
              </a:rPr>
              <a:t>يتراوح الإشعاع اليومي بين 6.5 و 7.0 كيلوواط ساعة لكل متر مربع.</a:t>
            </a:r>
          </a:p>
          <a:p>
            <a:pPr algn="r">
              <a:spcAft>
                <a:spcPts val="1200"/>
              </a:spcAft>
            </a:pPr>
            <a:r>
              <a:rPr sz="1600" b="1">
                <a:solidFill>
                  <a:srgbClr val="F59E0B"/>
                </a:solidFill>
                <a:latin typeface="Calibri"/>
              </a:rPr>
              <a:t>▪  </a:t>
            </a:r>
            <a:r>
              <a:rPr sz="1600" rtl="1">
                <a:solidFill>
                  <a:srgbClr val="F8FAFC"/>
                </a:solidFill>
                <a:latin typeface="Arial"/>
              </a:rPr>
              <a:t>ينتج نظام بقدرة 3 كيلوواط ذروة نحو 14 إلى 18 كيلوواط ساعة يومياً.</a:t>
            </a:r>
          </a:p>
          <a:p>
            <a:pPr algn="r">
              <a:spcAft>
                <a:spcPts val="1200"/>
              </a:spcAft>
            </a:pPr>
            <a:r>
              <a:rPr sz="1600" b="1">
                <a:solidFill>
                  <a:srgbClr val="F59E0B"/>
                </a:solidFill>
                <a:latin typeface="Calibri"/>
              </a:rPr>
              <a:t>▪  </a:t>
            </a:r>
            <a:r>
              <a:rPr sz="1600" rtl="1">
                <a:solidFill>
                  <a:srgbClr val="F8FAFC"/>
                </a:solidFill>
                <a:latin typeface="Arial"/>
              </a:rPr>
              <a:t>متوسط الاستهلاك المنزلي حوالي 12 كيلوواط ساعة، مما يترك فائضاً غير مستغل.</a:t>
            </a:r>
          </a:p>
          <a:p>
            <a:pPr algn="r">
              <a:spcAft>
                <a:spcPts val="1200"/>
              </a:spcAft>
            </a:pPr>
            <a:r>
              <a:rPr sz="1600" b="1">
                <a:solidFill>
                  <a:srgbClr val="F59E0B"/>
                </a:solidFill>
                <a:latin typeface="Calibri"/>
              </a:rPr>
              <a:t>▪  </a:t>
            </a:r>
            <a:r>
              <a:rPr sz="1600" rtl="1">
                <a:solidFill>
                  <a:srgbClr val="F8FAFC"/>
                </a:solidFill>
                <a:latin typeface="Arial"/>
              </a:rPr>
              <a:t>هذا الفائض يمثّل فرصة اقتصادية حقيقية إذا تم تنظيم تداوله بين المنازل.</a:t>
            </a:r>
          </a:p>
        </p:txBody>
      </p:sp>
      <p:sp>
        <p:nvSpPr>
          <p:cNvPr id="10" name="Rectangle 9"/>
          <p:cNvSpPr/>
          <p:nvPr/>
        </p:nvSpPr>
        <p:spPr>
          <a:xfrm>
            <a:off x="548640" y="6400800"/>
            <a:ext cx="11064240" cy="9525"/>
          </a:xfrm>
          <a:prstGeom prst="rect">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473952"/>
            <a:ext cx="5943600" cy="320040"/>
          </a:xfrm>
          <a:prstGeom prst="rect">
            <a:avLst/>
          </a:prstGeom>
          <a:noFill/>
        </p:spPr>
        <p:txBody>
          <a:bodyPr wrap="none" lIns="0" rIns="0">
            <a:spAutoFit/>
          </a:bodyPr>
          <a:lstStyle/>
          <a:p>
            <a:pPr algn="l"/>
            <a:r>
              <a:rPr sz="900">
                <a:solidFill>
                  <a:srgbClr val="C0C8D4"/>
                </a:solidFill>
                <a:latin typeface="Calibri"/>
              </a:rPr>
              <a:t>Solar Trading Simulation  |  Ajdabiya University</a:t>
            </a:r>
          </a:p>
        </p:txBody>
      </p:sp>
      <p:sp>
        <p:nvSpPr>
          <p:cNvPr id="12" name="TextBox 11"/>
          <p:cNvSpPr txBox="1"/>
          <p:nvPr/>
        </p:nvSpPr>
        <p:spPr>
          <a:xfrm>
            <a:off x="10241280" y="6473952"/>
            <a:ext cx="1371600" cy="320040"/>
          </a:xfrm>
          <a:prstGeom prst="rect">
            <a:avLst/>
          </a:prstGeom>
          <a:noFill/>
        </p:spPr>
        <p:txBody>
          <a:bodyPr wrap="none" lIns="0" rIns="0">
            <a:spAutoFit/>
          </a:bodyPr>
          <a:lstStyle/>
          <a:p>
            <a:pPr algn="r"/>
            <a:r>
              <a:rPr sz="1000" b="1">
                <a:solidFill>
                  <a:srgbClr val="F59E0B"/>
                </a:solidFill>
                <a:latin typeface="Calibri"/>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2286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11064240" cy="914400"/>
          </a:xfrm>
          <a:prstGeom prst="rect">
            <a:avLst/>
          </a:prstGeom>
          <a:noFill/>
        </p:spPr>
        <p:txBody>
          <a:bodyPr wrap="square" lIns="0" rIns="0">
            <a:spAutoFit/>
          </a:bodyPr>
          <a:lstStyle/>
          <a:p>
            <a:pPr algn="r"/>
            <a:r>
              <a:rPr sz="3200" b="1" rtl="1">
                <a:solidFill>
                  <a:srgbClr val="F8FAFC"/>
                </a:solidFill>
                <a:latin typeface="Arial"/>
              </a:rPr>
              <a:t>مشكلة البحث</a:t>
            </a:r>
          </a:p>
          <a:p>
            <a:pPr algn="r"/>
            <a:r>
              <a:rPr sz="1300" i="1">
                <a:solidFill>
                  <a:srgbClr val="F59E0B"/>
                </a:solidFill>
                <a:latin typeface="Calibri"/>
              </a:rPr>
              <a:t>Problem Statement</a:t>
            </a:r>
          </a:p>
        </p:txBody>
      </p:sp>
      <p:sp>
        <p:nvSpPr>
          <p:cNvPr id="5" name="Rounded Rectangle 4"/>
          <p:cNvSpPr/>
          <p:nvPr/>
        </p:nvSpPr>
        <p:spPr>
          <a:xfrm>
            <a:off x="548640" y="1828800"/>
            <a:ext cx="11064240" cy="822960"/>
          </a:xfrm>
          <a:prstGeom prst="roundRect">
            <a:avLst>
              <a:gd name="adj" fmla="val 15000"/>
            </a:avLst>
          </a:prstGeom>
          <a:solidFill>
            <a:srgbClr val="142A4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74320" rIns="274320"/>
          <a:lstStyle/>
          <a:p>
            <a:pPr algn="ctr"/>
            <a:r>
              <a:rPr sz="1800" b="1" rtl="1">
                <a:solidFill>
                  <a:srgbClr val="F8FAFC"/>
                </a:solidFill>
                <a:latin typeface="Arial"/>
              </a:rPr>
              <a:t>غياب منصة رقمية موثوقة تُمكّن المنازل الليبية من تداول فائض الطاقة الشمسية فيما بينها.</a:t>
            </a:r>
          </a:p>
        </p:txBody>
      </p:sp>
      <p:sp>
        <p:nvSpPr>
          <p:cNvPr id="6" name="TextBox 5"/>
          <p:cNvSpPr txBox="1"/>
          <p:nvPr/>
        </p:nvSpPr>
        <p:spPr>
          <a:xfrm>
            <a:off x="731520" y="2880360"/>
            <a:ext cx="10698480" cy="4297680"/>
          </a:xfrm>
          <a:prstGeom prst="rect">
            <a:avLst/>
          </a:prstGeom>
          <a:noFill/>
        </p:spPr>
        <p:txBody>
          <a:bodyPr wrap="square" tIns="0" bIns="0">
            <a:spAutoFit/>
          </a:bodyPr>
          <a:lstStyle/>
          <a:p>
            <a:pPr algn="r">
              <a:spcAft>
                <a:spcPts val="1200"/>
              </a:spcAft>
            </a:pPr>
            <a:r>
              <a:rPr sz="1800" b="1">
                <a:solidFill>
                  <a:srgbClr val="F59E0B"/>
                </a:solidFill>
                <a:latin typeface="Calibri"/>
              </a:rPr>
              <a:t>▪  </a:t>
            </a:r>
            <a:r>
              <a:rPr sz="1800" rtl="1">
                <a:solidFill>
                  <a:srgbClr val="F8FAFC"/>
                </a:solidFill>
                <a:latin typeface="Arial"/>
              </a:rPr>
              <a:t>انعدام آلية مباشرة للتداول بين الأقران دون وسيط مركزي مكلف.</a:t>
            </a:r>
          </a:p>
          <a:p>
            <a:pPr algn="r">
              <a:spcAft>
                <a:spcPts val="1200"/>
              </a:spcAft>
            </a:pPr>
            <a:r>
              <a:rPr sz="1800" b="1">
                <a:solidFill>
                  <a:srgbClr val="F59E0B"/>
                </a:solidFill>
                <a:latin typeface="Calibri"/>
              </a:rPr>
              <a:t>▪  </a:t>
            </a:r>
            <a:r>
              <a:rPr sz="1800" rtl="1">
                <a:solidFill>
                  <a:srgbClr val="F8FAFC"/>
                </a:solidFill>
                <a:latin typeface="Arial"/>
              </a:rPr>
              <a:t>غياب الشفافية في التسعير مما يُصعّب الوصول إلى قيمة عادلة للطاقة.</a:t>
            </a:r>
          </a:p>
          <a:p>
            <a:pPr algn="r">
              <a:spcAft>
                <a:spcPts val="1200"/>
              </a:spcAft>
            </a:pPr>
            <a:r>
              <a:rPr sz="1800" b="1">
                <a:solidFill>
                  <a:srgbClr val="F59E0B"/>
                </a:solidFill>
                <a:latin typeface="Calibri"/>
              </a:rPr>
              <a:t>▪  </a:t>
            </a:r>
            <a:r>
              <a:rPr sz="1800" rtl="1">
                <a:solidFill>
                  <a:srgbClr val="F8FAFC"/>
                </a:solidFill>
                <a:latin typeface="Arial"/>
              </a:rPr>
              <a:t>عدم توفر نظام لتتبع الإنتاج والاستهلاك والمعاملات في الوقت الفعلي.</a:t>
            </a:r>
          </a:p>
          <a:p>
            <a:pPr algn="r">
              <a:spcAft>
                <a:spcPts val="1200"/>
              </a:spcAft>
            </a:pPr>
            <a:r>
              <a:rPr sz="1800" b="1">
                <a:solidFill>
                  <a:srgbClr val="F59E0B"/>
                </a:solidFill>
                <a:latin typeface="Calibri"/>
              </a:rPr>
              <a:t>▪  </a:t>
            </a:r>
            <a:r>
              <a:rPr sz="1800" rtl="1">
                <a:solidFill>
                  <a:srgbClr val="F8FAFC"/>
                </a:solidFill>
                <a:latin typeface="Arial"/>
              </a:rPr>
              <a:t>الحاجة إلى محفظة رقمية آمنة تُدير الرصيد المالي بالدينار الليبي.</a:t>
            </a:r>
          </a:p>
          <a:p>
            <a:pPr algn="r">
              <a:spcAft>
                <a:spcPts val="1200"/>
              </a:spcAft>
            </a:pPr>
            <a:r>
              <a:rPr sz="1800" b="1">
                <a:solidFill>
                  <a:srgbClr val="F59E0B"/>
                </a:solidFill>
                <a:latin typeface="Calibri"/>
              </a:rPr>
              <a:t>▪  </a:t>
            </a:r>
            <a:r>
              <a:rPr sz="1800" rtl="1">
                <a:solidFill>
                  <a:srgbClr val="F8FAFC"/>
                </a:solidFill>
                <a:latin typeface="Arial"/>
              </a:rPr>
              <a:t>ضرورة توفير ضمانات لسلامة الصفقة (مبدأ الذرية) دون تعقيد بنى Blockchain.</a:t>
            </a:r>
          </a:p>
          <a:p>
            <a:pPr algn="r">
              <a:spcAft>
                <a:spcPts val="1200"/>
              </a:spcAft>
            </a:pPr>
            <a:r>
              <a:rPr sz="1800" b="1">
                <a:solidFill>
                  <a:srgbClr val="F59E0B"/>
                </a:solidFill>
                <a:latin typeface="Calibri"/>
              </a:rPr>
              <a:t>▪  </a:t>
            </a:r>
            <a:r>
              <a:rPr sz="1800" rtl="1">
                <a:solidFill>
                  <a:srgbClr val="F8FAFC"/>
                </a:solidFill>
                <a:latin typeface="Arial"/>
              </a:rPr>
              <a:t>انعدام نظام موحّد لعرض المنازل وموقعها ومتاح الطاقة عندها.</a:t>
            </a:r>
          </a:p>
        </p:txBody>
      </p:sp>
      <p:sp>
        <p:nvSpPr>
          <p:cNvPr id="7" name="Rectangle 6"/>
          <p:cNvSpPr/>
          <p:nvPr/>
        </p:nvSpPr>
        <p:spPr>
          <a:xfrm>
            <a:off x="548640" y="6400800"/>
            <a:ext cx="11064240" cy="9525"/>
          </a:xfrm>
          <a:prstGeom prst="rect">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5943600" cy="320040"/>
          </a:xfrm>
          <a:prstGeom prst="rect">
            <a:avLst/>
          </a:prstGeom>
          <a:noFill/>
        </p:spPr>
        <p:txBody>
          <a:bodyPr wrap="none" lIns="0" rIns="0">
            <a:spAutoFit/>
          </a:bodyPr>
          <a:lstStyle/>
          <a:p>
            <a:pPr algn="l"/>
            <a:r>
              <a:rPr sz="900">
                <a:solidFill>
                  <a:srgbClr val="C0C8D4"/>
                </a:solidFill>
                <a:latin typeface="Calibri"/>
              </a:rPr>
              <a:t>Solar Trading Simulation  |  Ajdabiya University</a:t>
            </a:r>
          </a:p>
        </p:txBody>
      </p:sp>
      <p:sp>
        <p:nvSpPr>
          <p:cNvPr id="9" name="TextBox 8"/>
          <p:cNvSpPr txBox="1"/>
          <p:nvPr/>
        </p:nvSpPr>
        <p:spPr>
          <a:xfrm>
            <a:off x="10241280" y="6473952"/>
            <a:ext cx="1371600" cy="320040"/>
          </a:xfrm>
          <a:prstGeom prst="rect">
            <a:avLst/>
          </a:prstGeom>
          <a:noFill/>
        </p:spPr>
        <p:txBody>
          <a:bodyPr wrap="none" lIns="0" rIns="0">
            <a:spAutoFit/>
          </a:bodyPr>
          <a:lstStyle/>
          <a:p>
            <a:pPr algn="r"/>
            <a:r>
              <a:rPr sz="1000" b="1">
                <a:solidFill>
                  <a:srgbClr val="F59E0B"/>
                </a:solidFill>
                <a:latin typeface="Calibri"/>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2286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11064240" cy="914400"/>
          </a:xfrm>
          <a:prstGeom prst="rect">
            <a:avLst/>
          </a:prstGeom>
          <a:noFill/>
        </p:spPr>
        <p:txBody>
          <a:bodyPr wrap="square" lIns="0" rIns="0">
            <a:spAutoFit/>
          </a:bodyPr>
          <a:lstStyle/>
          <a:p>
            <a:pPr algn="r"/>
            <a:r>
              <a:rPr sz="3200" b="1" rtl="1">
                <a:solidFill>
                  <a:srgbClr val="F8FAFC"/>
                </a:solidFill>
                <a:latin typeface="Arial"/>
              </a:rPr>
              <a:t>أهداف المشروع</a:t>
            </a:r>
          </a:p>
          <a:p>
            <a:pPr algn="r"/>
            <a:r>
              <a:rPr sz="1300" i="1">
                <a:solidFill>
                  <a:srgbClr val="F59E0B"/>
                </a:solidFill>
                <a:latin typeface="Calibri"/>
              </a:rPr>
              <a:t>Project Objectives</a:t>
            </a:r>
          </a:p>
        </p:txBody>
      </p:sp>
      <p:sp>
        <p:nvSpPr>
          <p:cNvPr id="5" name="Rounded Rectangle 4"/>
          <p:cNvSpPr/>
          <p:nvPr/>
        </p:nvSpPr>
        <p:spPr>
          <a:xfrm>
            <a:off x="548640" y="1828800"/>
            <a:ext cx="5486400" cy="1280160"/>
          </a:xfrm>
          <a:prstGeom prst="roundRect">
            <a:avLst>
              <a:gd name="adj" fmla="val 8000"/>
            </a:avLst>
          </a:prstGeom>
          <a:solidFill>
            <a:srgbClr val="142A4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rIns="228600" tIns="164592" wrap="square"/>
          <a:lstStyle/>
          <a:p>
            <a:pPr algn="r"/>
            <a:r>
              <a:rPr sz="1600" b="1" rtl="1">
                <a:solidFill>
                  <a:srgbClr val="FBBF24"/>
                </a:solidFill>
                <a:latin typeface="Arial"/>
              </a:rPr>
              <a:t>تصميم بيئة محاكاة</a:t>
            </a:r>
          </a:p>
          <a:p>
            <a:pPr algn="r">
              <a:spcBef>
                <a:spcPts val="600"/>
              </a:spcBef>
            </a:pPr>
            <a:r>
              <a:rPr sz="1300" rtl="1">
                <a:solidFill>
                  <a:srgbClr val="F8FAFC"/>
                </a:solidFill>
                <a:latin typeface="Arial"/>
              </a:rPr>
              <a:t>بناء نموذج محاكاة لخمسة منازل تجريبية تعكس واقع الاستهلاك والإنتاج في أجدابيا.</a:t>
            </a:r>
          </a:p>
        </p:txBody>
      </p:sp>
      <p:sp>
        <p:nvSpPr>
          <p:cNvPr id="6" name="Rounded Rectangle 5"/>
          <p:cNvSpPr/>
          <p:nvPr/>
        </p:nvSpPr>
        <p:spPr>
          <a:xfrm>
            <a:off x="6126479" y="1828800"/>
            <a:ext cx="5486400" cy="1280160"/>
          </a:xfrm>
          <a:prstGeom prst="roundRect">
            <a:avLst>
              <a:gd name="adj" fmla="val 8000"/>
            </a:avLst>
          </a:prstGeom>
          <a:solidFill>
            <a:srgbClr val="142A4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rIns="228600" tIns="164592" wrap="square"/>
          <a:lstStyle/>
          <a:p>
            <a:pPr algn="r"/>
            <a:r>
              <a:rPr sz="1600" b="1" rtl="1">
                <a:solidFill>
                  <a:srgbClr val="FBBF24"/>
                </a:solidFill>
                <a:latin typeface="Arial"/>
              </a:rPr>
              <a:t>تطوير محرك تداول ذري</a:t>
            </a:r>
          </a:p>
          <a:p>
            <a:pPr algn="r">
              <a:spcBef>
                <a:spcPts val="600"/>
              </a:spcBef>
            </a:pPr>
            <a:r>
              <a:rPr sz="1300" rtl="1">
                <a:solidFill>
                  <a:srgbClr val="F8FAFC"/>
                </a:solidFill>
                <a:latin typeface="Arial"/>
              </a:rPr>
              <a:t>تنفيذ عمليات البيع والشراء دفعةً واحدة (Atomic Transaction) لضمان تكامل البيانات.</a:t>
            </a:r>
          </a:p>
        </p:txBody>
      </p:sp>
      <p:sp>
        <p:nvSpPr>
          <p:cNvPr id="7" name="Rounded Rectangle 6"/>
          <p:cNvSpPr/>
          <p:nvPr/>
        </p:nvSpPr>
        <p:spPr>
          <a:xfrm>
            <a:off x="548640" y="3246120"/>
            <a:ext cx="5486400" cy="1280160"/>
          </a:xfrm>
          <a:prstGeom prst="roundRect">
            <a:avLst>
              <a:gd name="adj" fmla="val 8000"/>
            </a:avLst>
          </a:prstGeom>
          <a:solidFill>
            <a:srgbClr val="142A4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rIns="228600" tIns="164592" wrap="square"/>
          <a:lstStyle/>
          <a:p>
            <a:pPr algn="r"/>
            <a:r>
              <a:rPr sz="1600" b="1" rtl="1">
                <a:solidFill>
                  <a:srgbClr val="FBBF24"/>
                </a:solidFill>
                <a:latin typeface="Arial"/>
              </a:rPr>
              <a:t>بناء واجهة تفاعلية</a:t>
            </a:r>
          </a:p>
          <a:p>
            <a:pPr algn="r">
              <a:spcBef>
                <a:spcPts val="600"/>
              </a:spcBef>
            </a:pPr>
            <a:r>
              <a:rPr sz="1300" rtl="1">
                <a:solidFill>
                  <a:srgbClr val="F8FAFC"/>
                </a:solidFill>
                <a:latin typeface="Arial"/>
              </a:rPr>
              <a:t>إنشاء لوحة تحكم متجاوبة مع تحديثات فورية للأرصدة والعروض عبر Firestore.</a:t>
            </a:r>
          </a:p>
        </p:txBody>
      </p:sp>
      <p:sp>
        <p:nvSpPr>
          <p:cNvPr id="8" name="Rounded Rectangle 7"/>
          <p:cNvSpPr/>
          <p:nvPr/>
        </p:nvSpPr>
        <p:spPr>
          <a:xfrm>
            <a:off x="6126479" y="3246120"/>
            <a:ext cx="5486400" cy="1280160"/>
          </a:xfrm>
          <a:prstGeom prst="roundRect">
            <a:avLst>
              <a:gd name="adj" fmla="val 8000"/>
            </a:avLst>
          </a:prstGeom>
          <a:solidFill>
            <a:srgbClr val="142A4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rIns="228600" tIns="164592" wrap="square"/>
          <a:lstStyle/>
          <a:p>
            <a:pPr algn="r"/>
            <a:r>
              <a:rPr sz="1600" b="1" rtl="1">
                <a:solidFill>
                  <a:srgbClr val="FBBF24"/>
                </a:solidFill>
                <a:latin typeface="Arial"/>
              </a:rPr>
              <a:t>نموذج رياضي دقيق</a:t>
            </a:r>
          </a:p>
          <a:p>
            <a:pPr algn="r">
              <a:spcBef>
                <a:spcPts val="600"/>
              </a:spcBef>
            </a:pPr>
            <a:r>
              <a:rPr sz="1300" rtl="1">
                <a:solidFill>
                  <a:srgbClr val="F8FAFC"/>
                </a:solidFill>
                <a:latin typeface="Arial"/>
              </a:rPr>
              <a:t>تطبيق معادلة الإنتاج الفيزيائية مع عوامل موسمية تعكس مناخ أجدابيا.</a:t>
            </a:r>
          </a:p>
        </p:txBody>
      </p:sp>
      <p:sp>
        <p:nvSpPr>
          <p:cNvPr id="9" name="Rounded Rectangle 8"/>
          <p:cNvSpPr/>
          <p:nvPr/>
        </p:nvSpPr>
        <p:spPr>
          <a:xfrm>
            <a:off x="548640" y="4663440"/>
            <a:ext cx="5486400" cy="1280160"/>
          </a:xfrm>
          <a:prstGeom prst="roundRect">
            <a:avLst>
              <a:gd name="adj" fmla="val 8000"/>
            </a:avLst>
          </a:prstGeom>
          <a:solidFill>
            <a:srgbClr val="142A4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rIns="228600" tIns="164592" wrap="square"/>
          <a:lstStyle/>
          <a:p>
            <a:pPr algn="r"/>
            <a:r>
              <a:rPr sz="1600" b="1" rtl="1">
                <a:solidFill>
                  <a:srgbClr val="FBBF24"/>
                </a:solidFill>
                <a:latin typeface="Arial"/>
              </a:rPr>
              <a:t>محفظة رقمية آمنة</a:t>
            </a:r>
          </a:p>
          <a:p>
            <a:pPr algn="r">
              <a:spcBef>
                <a:spcPts val="600"/>
              </a:spcBef>
            </a:pPr>
            <a:r>
              <a:rPr sz="1300" rtl="1">
                <a:solidFill>
                  <a:srgbClr val="F8FAFC"/>
                </a:solidFill>
                <a:latin typeface="Arial"/>
              </a:rPr>
              <a:t>إدارة أرصدة الدينار الليبي وشحن المحفظة عبر طرق دفع محلية متعددة.</a:t>
            </a:r>
          </a:p>
        </p:txBody>
      </p:sp>
      <p:sp>
        <p:nvSpPr>
          <p:cNvPr id="10" name="Rounded Rectangle 9"/>
          <p:cNvSpPr/>
          <p:nvPr/>
        </p:nvSpPr>
        <p:spPr>
          <a:xfrm>
            <a:off x="6126479" y="4663440"/>
            <a:ext cx="5486400" cy="1280160"/>
          </a:xfrm>
          <a:prstGeom prst="roundRect">
            <a:avLst>
              <a:gd name="adj" fmla="val 8000"/>
            </a:avLst>
          </a:prstGeom>
          <a:solidFill>
            <a:srgbClr val="142A4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rIns="228600" tIns="164592" wrap="square"/>
          <a:lstStyle/>
          <a:p>
            <a:pPr algn="r"/>
            <a:r>
              <a:rPr sz="1600" b="1" rtl="1">
                <a:solidFill>
                  <a:srgbClr val="FBBF24"/>
                </a:solidFill>
                <a:latin typeface="Arial"/>
              </a:rPr>
              <a:t>نظام إداري وجغرافي</a:t>
            </a:r>
          </a:p>
          <a:p>
            <a:pPr algn="r">
              <a:spcBef>
                <a:spcPts val="600"/>
              </a:spcBef>
            </a:pPr>
            <a:r>
              <a:rPr sz="1300" rtl="1">
                <a:solidFill>
                  <a:srgbClr val="F8FAFC"/>
                </a:solidFill>
                <a:latin typeface="Arial"/>
              </a:rPr>
              <a:t>لوحة إدارة للإشراف الشامل، وتصفية العروض حسب المدينة والحي.</a:t>
            </a:r>
          </a:p>
        </p:txBody>
      </p:sp>
      <p:sp>
        <p:nvSpPr>
          <p:cNvPr id="11" name="Rectangle 10"/>
          <p:cNvSpPr/>
          <p:nvPr/>
        </p:nvSpPr>
        <p:spPr>
          <a:xfrm>
            <a:off x="548640" y="6400800"/>
            <a:ext cx="11064240" cy="9525"/>
          </a:xfrm>
          <a:prstGeom prst="rect">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473952"/>
            <a:ext cx="5943600" cy="320040"/>
          </a:xfrm>
          <a:prstGeom prst="rect">
            <a:avLst/>
          </a:prstGeom>
          <a:noFill/>
        </p:spPr>
        <p:txBody>
          <a:bodyPr wrap="none" lIns="0" rIns="0">
            <a:spAutoFit/>
          </a:bodyPr>
          <a:lstStyle/>
          <a:p>
            <a:pPr algn="l"/>
            <a:r>
              <a:rPr sz="900">
                <a:solidFill>
                  <a:srgbClr val="C0C8D4"/>
                </a:solidFill>
                <a:latin typeface="Calibri"/>
              </a:rPr>
              <a:t>Solar Trading Simulation  |  Ajdabiya University</a:t>
            </a:r>
          </a:p>
        </p:txBody>
      </p:sp>
      <p:sp>
        <p:nvSpPr>
          <p:cNvPr id="13" name="TextBox 12"/>
          <p:cNvSpPr txBox="1"/>
          <p:nvPr/>
        </p:nvSpPr>
        <p:spPr>
          <a:xfrm>
            <a:off x="10241280" y="6473952"/>
            <a:ext cx="1371600" cy="320040"/>
          </a:xfrm>
          <a:prstGeom prst="rect">
            <a:avLst/>
          </a:prstGeom>
          <a:noFill/>
        </p:spPr>
        <p:txBody>
          <a:bodyPr wrap="none" lIns="0" rIns="0">
            <a:spAutoFit/>
          </a:bodyPr>
          <a:lstStyle/>
          <a:p>
            <a:pPr algn="r"/>
            <a:r>
              <a:rPr sz="1000" b="1">
                <a:solidFill>
                  <a:srgbClr val="F59E0B"/>
                </a:solidFill>
                <a:latin typeface="Calibri"/>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2286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11064240" cy="914400"/>
          </a:xfrm>
          <a:prstGeom prst="rect">
            <a:avLst/>
          </a:prstGeom>
          <a:noFill/>
        </p:spPr>
        <p:txBody>
          <a:bodyPr wrap="square" lIns="0" rIns="0">
            <a:spAutoFit/>
          </a:bodyPr>
          <a:lstStyle/>
          <a:p>
            <a:pPr algn="r"/>
            <a:r>
              <a:rPr sz="3200" b="1" rtl="1">
                <a:solidFill>
                  <a:srgbClr val="F8FAFC"/>
                </a:solidFill>
                <a:latin typeface="Arial"/>
              </a:rPr>
              <a:t>التداول بين الأقران ومفهوم المستهلك المُنتج</a:t>
            </a:r>
          </a:p>
          <a:p>
            <a:pPr algn="r"/>
            <a:r>
              <a:rPr sz="1300" i="1">
                <a:solidFill>
                  <a:srgbClr val="F59E0B"/>
                </a:solidFill>
                <a:latin typeface="Calibri"/>
              </a:rPr>
              <a:t>P2P Energy Trading and the Prosumer Concept</a:t>
            </a:r>
          </a:p>
        </p:txBody>
      </p:sp>
      <p:sp>
        <p:nvSpPr>
          <p:cNvPr id="5" name="TextBox 4"/>
          <p:cNvSpPr txBox="1"/>
          <p:nvPr/>
        </p:nvSpPr>
        <p:spPr>
          <a:xfrm>
            <a:off x="731520" y="1920240"/>
            <a:ext cx="6035040" cy="4297680"/>
          </a:xfrm>
          <a:prstGeom prst="rect">
            <a:avLst/>
          </a:prstGeom>
          <a:noFill/>
        </p:spPr>
        <p:txBody>
          <a:bodyPr wrap="square" tIns="0" bIns="0">
            <a:spAutoFit/>
          </a:bodyPr>
          <a:lstStyle/>
          <a:p>
            <a:pPr algn="r">
              <a:spcAft>
                <a:spcPts val="1200"/>
              </a:spcAft>
            </a:pPr>
            <a:r>
              <a:rPr sz="1500" b="1">
                <a:solidFill>
                  <a:srgbClr val="F59E0B"/>
                </a:solidFill>
                <a:latin typeface="Calibri"/>
              </a:rPr>
              <a:t>▪  </a:t>
            </a:r>
            <a:r>
              <a:rPr sz="1500" rtl="1">
                <a:solidFill>
                  <a:srgbClr val="F8FAFC"/>
                </a:solidFill>
                <a:latin typeface="Arial"/>
              </a:rPr>
              <a:t>التداول بين الأقران (P2P) نموذج لامركزي يُتيح تبادل الطاقة بين الأفراد.</a:t>
            </a:r>
          </a:p>
          <a:p>
            <a:pPr algn="r">
              <a:spcAft>
                <a:spcPts val="1200"/>
              </a:spcAft>
            </a:pPr>
            <a:r>
              <a:rPr sz="1500" b="1">
                <a:solidFill>
                  <a:srgbClr val="F59E0B"/>
                </a:solidFill>
                <a:latin typeface="Calibri"/>
              </a:rPr>
              <a:t>▪  </a:t>
            </a:r>
            <a:r>
              <a:rPr sz="1500" rtl="1">
                <a:solidFill>
                  <a:srgbClr val="F8FAFC"/>
                </a:solidFill>
                <a:latin typeface="Arial"/>
              </a:rPr>
              <a:t>يزيل الحاجة إلى وسطاء مركزيين ويُقلّل الفاقد الاقتصادي.</a:t>
            </a:r>
          </a:p>
          <a:p>
            <a:pPr algn="r">
              <a:spcAft>
                <a:spcPts val="1200"/>
              </a:spcAft>
            </a:pPr>
            <a:r>
              <a:rPr sz="1500" b="1">
                <a:solidFill>
                  <a:srgbClr val="F59E0B"/>
                </a:solidFill>
                <a:latin typeface="Calibri"/>
              </a:rPr>
              <a:t>▪  </a:t>
            </a:r>
            <a:r>
              <a:rPr sz="1500" rtl="1">
                <a:solidFill>
                  <a:srgbClr val="F8FAFC"/>
                </a:solidFill>
                <a:latin typeface="Arial"/>
              </a:rPr>
              <a:t>يمنح المستخدم حرية تسعير طاقته الفائضة والتحكم في وقت البيع.</a:t>
            </a:r>
          </a:p>
          <a:p>
            <a:pPr algn="r">
              <a:spcAft>
                <a:spcPts val="1200"/>
              </a:spcAft>
            </a:pPr>
            <a:r>
              <a:rPr sz="1500" b="1">
                <a:solidFill>
                  <a:srgbClr val="F59E0B"/>
                </a:solidFill>
                <a:latin typeface="Calibri"/>
              </a:rPr>
              <a:t>▪  </a:t>
            </a:r>
            <a:r>
              <a:rPr sz="1500" rtl="1">
                <a:solidFill>
                  <a:srgbClr val="F8FAFC"/>
                </a:solidFill>
                <a:latin typeface="Arial"/>
              </a:rPr>
              <a:t>يُعزز ثقافة الاقتصاد التشاركي والاستدامة البيئية على مستوى الحي.</a:t>
            </a:r>
          </a:p>
        </p:txBody>
      </p:sp>
      <p:sp>
        <p:nvSpPr>
          <p:cNvPr id="6" name="Rounded Rectangle 5"/>
          <p:cNvSpPr/>
          <p:nvPr/>
        </p:nvSpPr>
        <p:spPr>
          <a:xfrm>
            <a:off x="6949440" y="1920240"/>
            <a:ext cx="4663440" cy="4114800"/>
          </a:xfrm>
          <a:prstGeom prst="roundRect">
            <a:avLst>
              <a:gd name="adj" fmla="val 5000"/>
            </a:avLst>
          </a:prstGeom>
          <a:solidFill>
            <a:srgbClr val="142A4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bIns="228600" wrap="square"/>
          <a:lstStyle/>
          <a:p>
            <a:pPr algn="r"/>
            <a:r>
              <a:rPr sz="1800" b="1" rtl="1">
                <a:solidFill>
                  <a:srgbClr val="FBBF24"/>
                </a:solidFill>
                <a:latin typeface="Arial"/>
              </a:rPr>
              <a:t>المستهلك المُنتج (Prosumer)</a:t>
            </a:r>
          </a:p>
          <a:p>
            <a:pPr algn="r">
              <a:spcBef>
                <a:spcPts val="1000"/>
              </a:spcBef>
            </a:pPr>
            <a:r>
              <a:rPr sz="1400" rtl="1">
                <a:solidFill>
                  <a:srgbClr val="F8FAFC"/>
                </a:solidFill>
                <a:latin typeface="Arial"/>
              </a:rPr>
              <a:t>تحوّل جوهري من دور "المستهلك" السلبي إلى دور "المنتج والمستهلك" في آن واحد. المنزل الذي يمتلك ألواحاً شمسية يستهلك ما يحتاجه، ويبيع الفائض لجيرانه مباشرةً عبر السوق الرقمي، ويشتري عند العجز — كل ذلك بشفافية وأسعار عادلة.</a:t>
            </a:r>
          </a:p>
        </p:txBody>
      </p:sp>
      <p:sp>
        <p:nvSpPr>
          <p:cNvPr id="7" name="Rectangle 6"/>
          <p:cNvSpPr/>
          <p:nvPr/>
        </p:nvSpPr>
        <p:spPr>
          <a:xfrm>
            <a:off x="548640" y="6400800"/>
            <a:ext cx="11064240" cy="9525"/>
          </a:xfrm>
          <a:prstGeom prst="rect">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5943600" cy="320040"/>
          </a:xfrm>
          <a:prstGeom prst="rect">
            <a:avLst/>
          </a:prstGeom>
          <a:noFill/>
        </p:spPr>
        <p:txBody>
          <a:bodyPr wrap="none" lIns="0" rIns="0">
            <a:spAutoFit/>
          </a:bodyPr>
          <a:lstStyle/>
          <a:p>
            <a:pPr algn="l"/>
            <a:r>
              <a:rPr sz="900">
                <a:solidFill>
                  <a:srgbClr val="C0C8D4"/>
                </a:solidFill>
                <a:latin typeface="Calibri"/>
              </a:rPr>
              <a:t>Solar Trading Simulation  |  Ajdabiya University</a:t>
            </a:r>
          </a:p>
        </p:txBody>
      </p:sp>
      <p:sp>
        <p:nvSpPr>
          <p:cNvPr id="9" name="TextBox 8"/>
          <p:cNvSpPr txBox="1"/>
          <p:nvPr/>
        </p:nvSpPr>
        <p:spPr>
          <a:xfrm>
            <a:off x="10241280" y="6473952"/>
            <a:ext cx="1371600" cy="320040"/>
          </a:xfrm>
          <a:prstGeom prst="rect">
            <a:avLst/>
          </a:prstGeom>
          <a:noFill/>
        </p:spPr>
        <p:txBody>
          <a:bodyPr wrap="none" lIns="0" rIns="0">
            <a:spAutoFit/>
          </a:bodyPr>
          <a:lstStyle/>
          <a:p>
            <a:pPr algn="r"/>
            <a:r>
              <a:rPr sz="1000" b="1">
                <a:solidFill>
                  <a:srgbClr val="F59E0B"/>
                </a:solidFill>
                <a:latin typeface="Calibri"/>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2286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11064240" cy="914400"/>
          </a:xfrm>
          <a:prstGeom prst="rect">
            <a:avLst/>
          </a:prstGeom>
          <a:noFill/>
        </p:spPr>
        <p:txBody>
          <a:bodyPr wrap="square" lIns="0" rIns="0">
            <a:spAutoFit/>
          </a:bodyPr>
          <a:lstStyle/>
          <a:p>
            <a:pPr algn="r"/>
            <a:r>
              <a:rPr sz="3200" b="1" rtl="1">
                <a:solidFill>
                  <a:srgbClr val="F8FAFC"/>
                </a:solidFill>
                <a:latin typeface="Arial"/>
              </a:rPr>
              <a:t>خيار البنية: المحفظة السحابية مقابل Blockchain</a:t>
            </a:r>
          </a:p>
          <a:p>
            <a:pPr algn="r"/>
            <a:r>
              <a:rPr sz="1300" i="1">
                <a:solidFill>
                  <a:srgbClr val="F59E0B"/>
                </a:solidFill>
                <a:latin typeface="Calibri"/>
              </a:rPr>
              <a:t>Architecture Choice: Cloud Wallets vs. Blockchain</a:t>
            </a:r>
          </a:p>
        </p:txBody>
      </p:sp>
      <p:sp>
        <p:nvSpPr>
          <p:cNvPr id="5" name="Rounded Rectangle 4"/>
          <p:cNvSpPr/>
          <p:nvPr/>
        </p:nvSpPr>
        <p:spPr>
          <a:xfrm>
            <a:off x="6217920" y="1828800"/>
            <a:ext cx="5440680" cy="4297680"/>
          </a:xfrm>
          <a:prstGeom prst="roundRect">
            <a:avLst>
              <a:gd name="adj" fmla="val 4000"/>
            </a:avLst>
          </a:prstGeom>
          <a:solidFill>
            <a:srgbClr val="142A4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bIns="228600" wrap="square"/>
          <a:lstStyle/>
          <a:p>
            <a:pPr algn="r"/>
            <a:r>
              <a:rPr sz="2000" b="1" rtl="1">
                <a:solidFill>
                  <a:srgbClr val="F59E0B"/>
                </a:solidFill>
                <a:latin typeface="Arial"/>
              </a:rPr>
              <a:t>Firebase — الحل المُعتمد</a:t>
            </a:r>
          </a:p>
          <a:p>
            <a:pPr algn="r">
              <a:spcBef>
                <a:spcPts val="1000"/>
              </a:spcBef>
            </a:pPr>
            <a:r>
              <a:rPr sz="1300" rtl="1">
                <a:solidFill>
                  <a:srgbClr val="F8FAFC"/>
                </a:solidFill>
                <a:latin typeface="Arial"/>
              </a:rPr>
              <a:t>  استجابة فورية تقل عن ثانية واحدة.</a:t>
            </a:r>
            <a:r>
              <a:rPr sz="1300" b="1" rtl="1">
                <a:solidFill>
                  <a:srgbClr val="FBBF24"/>
                </a:solidFill>
                <a:latin typeface="Arial"/>
              </a:rPr>
              <a:t>السرعة:</a:t>
            </a:r>
          </a:p>
          <a:p>
            <a:pPr algn="r">
              <a:spcBef>
                <a:spcPts val="1000"/>
              </a:spcBef>
            </a:pPr>
            <a:r>
              <a:rPr sz="1300" rtl="1">
                <a:solidFill>
                  <a:srgbClr val="F8FAFC"/>
                </a:solidFill>
                <a:latin typeface="Arial"/>
              </a:rPr>
              <a:t>  مجاني للمشاريع الصغيرة والمتوسطة.</a:t>
            </a:r>
            <a:r>
              <a:rPr sz="1300" b="1" rtl="1">
                <a:solidFill>
                  <a:srgbClr val="FBBF24"/>
                </a:solidFill>
                <a:latin typeface="Arial"/>
              </a:rPr>
              <a:t>التكلفة:</a:t>
            </a:r>
          </a:p>
          <a:p>
            <a:pPr algn="r">
              <a:spcBef>
                <a:spcPts val="1000"/>
              </a:spcBef>
            </a:pPr>
            <a:r>
              <a:rPr sz="1300" rtl="1">
                <a:solidFill>
                  <a:srgbClr val="F8FAFC"/>
                </a:solidFill>
                <a:latin typeface="Arial"/>
              </a:rPr>
              <a:t>  بنية مباشرة دون الحاجة لخادم مستقل.</a:t>
            </a:r>
            <a:r>
              <a:rPr sz="1300" b="1" rtl="1">
                <a:solidFill>
                  <a:srgbClr val="FBBF24"/>
                </a:solidFill>
                <a:latin typeface="Arial"/>
              </a:rPr>
              <a:t>التطوير:</a:t>
            </a:r>
          </a:p>
          <a:p>
            <a:pPr algn="r">
              <a:spcBef>
                <a:spcPts val="1000"/>
              </a:spcBef>
            </a:pPr>
            <a:r>
              <a:rPr sz="1300" rtl="1">
                <a:solidFill>
                  <a:srgbClr val="F8FAFC"/>
                </a:solidFill>
                <a:latin typeface="Arial"/>
              </a:rPr>
              <a:t>  قواعد Firestore تتحكم بدقة في الصلاحيات.</a:t>
            </a:r>
            <a:r>
              <a:rPr sz="1300" b="1" rtl="1">
                <a:solidFill>
                  <a:srgbClr val="FBBF24"/>
                </a:solidFill>
                <a:latin typeface="Arial"/>
              </a:rPr>
              <a:t>الأمان:</a:t>
            </a:r>
          </a:p>
          <a:p>
            <a:pPr algn="r">
              <a:spcBef>
                <a:spcPts val="1000"/>
              </a:spcBef>
            </a:pPr>
            <a:r>
              <a:rPr sz="1300" rtl="1">
                <a:solidFill>
                  <a:srgbClr val="F8FAFC"/>
                </a:solidFill>
                <a:latin typeface="Arial"/>
              </a:rPr>
              <a:t>  writeBatch يضمن تنفيذ الصفقة كاملة أو رفضها.</a:t>
            </a:r>
            <a:r>
              <a:rPr sz="1300" b="1" rtl="1">
                <a:solidFill>
                  <a:srgbClr val="FBBF24"/>
                </a:solidFill>
                <a:latin typeface="Arial"/>
              </a:rPr>
              <a:t>الذرية:</a:t>
            </a:r>
          </a:p>
          <a:p>
            <a:pPr algn="r">
              <a:spcBef>
                <a:spcPts val="1000"/>
              </a:spcBef>
            </a:pPr>
            <a:r>
              <a:rPr sz="1300" rtl="1">
                <a:solidFill>
                  <a:srgbClr val="F8FAFC"/>
                </a:solidFill>
                <a:latin typeface="Arial"/>
              </a:rPr>
              <a:t>  الخيار الأمثل لبيئة محاكاة أكاديمية.</a:t>
            </a:r>
            <a:r>
              <a:rPr sz="1300" b="1" rtl="1">
                <a:solidFill>
                  <a:srgbClr val="FBBF24"/>
                </a:solidFill>
                <a:latin typeface="Arial"/>
              </a:rPr>
              <a:t>الملاءمة:</a:t>
            </a:r>
          </a:p>
        </p:txBody>
      </p:sp>
      <p:sp>
        <p:nvSpPr>
          <p:cNvPr id="6" name="Rounded Rectangle 5"/>
          <p:cNvSpPr/>
          <p:nvPr/>
        </p:nvSpPr>
        <p:spPr>
          <a:xfrm>
            <a:off x="502920" y="1828800"/>
            <a:ext cx="5440680" cy="4297680"/>
          </a:xfrm>
          <a:prstGeom prst="roundRect">
            <a:avLst>
              <a:gd name="adj" fmla="val 4000"/>
            </a:avLst>
          </a:prstGeom>
          <a:solidFill>
            <a:srgbClr val="142A47"/>
          </a:solidFill>
          <a:ln w="19050">
            <a:solidFill>
              <a:srgbClr val="C0C8D4"/>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bIns="228600" wrap="square"/>
          <a:lstStyle/>
          <a:p>
            <a:pPr algn="r"/>
            <a:r>
              <a:rPr sz="2000" b="1" rtl="1">
                <a:solidFill>
                  <a:srgbClr val="C0C8D4"/>
                </a:solidFill>
                <a:latin typeface="Arial"/>
              </a:rPr>
              <a:t>Blockchain — البديل المُستبعَد</a:t>
            </a:r>
          </a:p>
          <a:p>
            <a:pPr algn="r">
              <a:spcBef>
                <a:spcPts val="1000"/>
              </a:spcBef>
            </a:pPr>
            <a:r>
              <a:rPr sz="1300" rtl="1">
                <a:solidFill>
                  <a:srgbClr val="F8FAFC"/>
                </a:solidFill>
                <a:latin typeface="Arial"/>
              </a:rPr>
              <a:t>  زمن تأكيد الصفقة قد يمتد لعدة دقائق.</a:t>
            </a:r>
            <a:r>
              <a:rPr sz="1300" b="1" rtl="1">
                <a:solidFill>
                  <a:srgbClr val="FBBF24"/>
                </a:solidFill>
                <a:latin typeface="Arial"/>
              </a:rPr>
              <a:t>السرعة:</a:t>
            </a:r>
          </a:p>
          <a:p>
            <a:pPr algn="r">
              <a:spcBef>
                <a:spcPts val="1000"/>
              </a:spcBef>
            </a:pPr>
            <a:r>
              <a:rPr sz="1300" rtl="1">
                <a:solidFill>
                  <a:srgbClr val="F8FAFC"/>
                </a:solidFill>
                <a:latin typeface="Arial"/>
              </a:rPr>
              <a:t>  رسوم غاز مرتفعة على كل معاملة.</a:t>
            </a:r>
            <a:r>
              <a:rPr sz="1300" b="1" rtl="1">
                <a:solidFill>
                  <a:srgbClr val="FBBF24"/>
                </a:solidFill>
                <a:latin typeface="Arial"/>
              </a:rPr>
              <a:t>التكلفة:</a:t>
            </a:r>
          </a:p>
          <a:p>
            <a:pPr algn="r">
              <a:spcBef>
                <a:spcPts val="1000"/>
              </a:spcBef>
            </a:pPr>
            <a:r>
              <a:rPr sz="1300" rtl="1">
                <a:solidFill>
                  <a:srgbClr val="F8FAFC"/>
                </a:solidFill>
                <a:latin typeface="Arial"/>
              </a:rPr>
              <a:t>  يتطلب Solidity وعقود ذكية معقّدة.</a:t>
            </a:r>
            <a:r>
              <a:rPr sz="1300" b="1" rtl="1">
                <a:solidFill>
                  <a:srgbClr val="FBBF24"/>
                </a:solidFill>
                <a:latin typeface="Arial"/>
              </a:rPr>
              <a:t>التطوير:</a:t>
            </a:r>
          </a:p>
          <a:p>
            <a:pPr algn="r">
              <a:spcBef>
                <a:spcPts val="1000"/>
              </a:spcBef>
            </a:pPr>
            <a:r>
              <a:rPr sz="1300" rtl="1">
                <a:solidFill>
                  <a:srgbClr val="F8FAFC"/>
                </a:solidFill>
                <a:latin typeface="Arial"/>
              </a:rPr>
              <a:t>  قوي لكن مع سطح هجوم أوسع.</a:t>
            </a:r>
            <a:r>
              <a:rPr sz="1300" b="1" rtl="1">
                <a:solidFill>
                  <a:srgbClr val="FBBF24"/>
                </a:solidFill>
                <a:latin typeface="Arial"/>
              </a:rPr>
              <a:t>الأمان:</a:t>
            </a:r>
          </a:p>
          <a:p>
            <a:pPr algn="r">
              <a:spcBef>
                <a:spcPts val="1000"/>
              </a:spcBef>
            </a:pPr>
            <a:r>
              <a:rPr sz="1300" rtl="1">
                <a:solidFill>
                  <a:srgbClr val="F8FAFC"/>
                </a:solidFill>
                <a:latin typeface="Arial"/>
              </a:rPr>
              <a:t>  متاحة لكن بتكلفة أداء أعلى.</a:t>
            </a:r>
            <a:r>
              <a:rPr sz="1300" b="1" rtl="1">
                <a:solidFill>
                  <a:srgbClr val="FBBF24"/>
                </a:solidFill>
                <a:latin typeface="Arial"/>
              </a:rPr>
              <a:t>الذرية:</a:t>
            </a:r>
          </a:p>
          <a:p>
            <a:pPr algn="r">
              <a:spcBef>
                <a:spcPts val="1000"/>
              </a:spcBef>
            </a:pPr>
            <a:r>
              <a:rPr sz="1300" rtl="1">
                <a:solidFill>
                  <a:srgbClr val="F8FAFC"/>
                </a:solidFill>
                <a:latin typeface="Arial"/>
              </a:rPr>
              <a:t>  غير عملي للنموذج التجريبي الحالي.</a:t>
            </a:r>
            <a:r>
              <a:rPr sz="1300" b="1" rtl="1">
                <a:solidFill>
                  <a:srgbClr val="FBBF24"/>
                </a:solidFill>
                <a:latin typeface="Arial"/>
              </a:rPr>
              <a:t>الملاءمة:</a:t>
            </a:r>
          </a:p>
        </p:txBody>
      </p:sp>
      <p:sp>
        <p:nvSpPr>
          <p:cNvPr id="7" name="Rectangle 6"/>
          <p:cNvSpPr/>
          <p:nvPr/>
        </p:nvSpPr>
        <p:spPr>
          <a:xfrm>
            <a:off x="548640" y="6400800"/>
            <a:ext cx="11064240" cy="9525"/>
          </a:xfrm>
          <a:prstGeom prst="rect">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5943600" cy="320040"/>
          </a:xfrm>
          <a:prstGeom prst="rect">
            <a:avLst/>
          </a:prstGeom>
          <a:noFill/>
        </p:spPr>
        <p:txBody>
          <a:bodyPr wrap="none" lIns="0" rIns="0">
            <a:spAutoFit/>
          </a:bodyPr>
          <a:lstStyle/>
          <a:p>
            <a:pPr algn="l"/>
            <a:r>
              <a:rPr sz="900">
                <a:solidFill>
                  <a:srgbClr val="C0C8D4"/>
                </a:solidFill>
                <a:latin typeface="Calibri"/>
              </a:rPr>
              <a:t>Solar Trading Simulation  |  Ajdabiya University</a:t>
            </a:r>
          </a:p>
        </p:txBody>
      </p:sp>
      <p:sp>
        <p:nvSpPr>
          <p:cNvPr id="9" name="TextBox 8"/>
          <p:cNvSpPr txBox="1"/>
          <p:nvPr/>
        </p:nvSpPr>
        <p:spPr>
          <a:xfrm>
            <a:off x="10241280" y="6473952"/>
            <a:ext cx="1371600" cy="320040"/>
          </a:xfrm>
          <a:prstGeom prst="rect">
            <a:avLst/>
          </a:prstGeom>
          <a:noFill/>
        </p:spPr>
        <p:txBody>
          <a:bodyPr wrap="none" lIns="0" rIns="0">
            <a:spAutoFit/>
          </a:bodyPr>
          <a:lstStyle/>
          <a:p>
            <a:pPr algn="r"/>
            <a:r>
              <a:rPr sz="1000" b="1">
                <a:solidFill>
                  <a:srgbClr val="F59E0B"/>
                </a:solidFill>
                <a:latin typeface="Calibri"/>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2286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11064240" cy="914400"/>
          </a:xfrm>
          <a:prstGeom prst="rect">
            <a:avLst/>
          </a:prstGeom>
          <a:noFill/>
        </p:spPr>
        <p:txBody>
          <a:bodyPr wrap="square" lIns="0" rIns="0">
            <a:spAutoFit/>
          </a:bodyPr>
          <a:lstStyle/>
          <a:p>
            <a:pPr algn="r"/>
            <a:r>
              <a:rPr sz="3200" b="1" rtl="1">
                <a:solidFill>
                  <a:srgbClr val="F8FAFC"/>
                </a:solidFill>
                <a:latin typeface="Arial"/>
              </a:rPr>
              <a:t>البنية العامة للنظام — ثلاث طبقات بدون خادم</a:t>
            </a:r>
          </a:p>
          <a:p>
            <a:pPr algn="r"/>
            <a:r>
              <a:rPr sz="1300" i="1">
                <a:solidFill>
                  <a:srgbClr val="F59E0B"/>
                </a:solidFill>
                <a:latin typeface="Calibri"/>
              </a:rPr>
              <a:t>Serverless 3-Tier System Architecture</a:t>
            </a:r>
          </a:p>
        </p:txBody>
      </p:sp>
      <p:sp>
        <p:nvSpPr>
          <p:cNvPr id="5" name="Rounded Rectangle 4"/>
          <p:cNvSpPr/>
          <p:nvPr/>
        </p:nvSpPr>
        <p:spPr>
          <a:xfrm>
            <a:off x="640080" y="1783080"/>
            <a:ext cx="10972800" cy="1371600"/>
          </a:xfrm>
          <a:prstGeom prst="roundRect">
            <a:avLst>
              <a:gd name="adj" fmla="val 6000"/>
            </a:avLst>
          </a:prstGeom>
          <a:solidFill>
            <a:srgbClr val="142A47"/>
          </a:solidFill>
          <a:ln w="1587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320040" rIns="320040" tIns="182880" wrap="square"/>
          <a:lstStyle/>
          <a:p>
            <a:pPr algn="r"/>
            <a:r>
              <a:rPr sz="1800" b="1" rtl="1">
                <a:solidFill>
                  <a:srgbClr val="F59E0B"/>
                </a:solidFill>
                <a:latin typeface="Arial"/>
              </a:rPr>
              <a:t>طبقة العرض  (Presentation)   </a:t>
            </a:r>
            <a:r>
              <a:rPr sz="1200" i="1">
                <a:solidFill>
                  <a:srgbClr val="C0C8D4"/>
                </a:solidFill>
                <a:latin typeface="Calibri"/>
              </a:rPr>
              <a:t>React 19  +  Tailwind CSS  +  Recharts</a:t>
            </a:r>
          </a:p>
          <a:p>
            <a:pPr algn="r">
              <a:spcBef>
                <a:spcPts val="600"/>
              </a:spcBef>
            </a:pPr>
            <a:r>
              <a:rPr sz="1300" rtl="1">
                <a:solidFill>
                  <a:srgbClr val="F8FAFC"/>
                </a:solidFill>
                <a:latin typeface="Arial"/>
              </a:rPr>
              <a:t>واجهة المستخدم التفاعلية التي يتعامل معها المنزل.
تعرض لوحة التحكم، السوق، سجل المعاملات، والإعدادات.</a:t>
            </a:r>
          </a:p>
        </p:txBody>
      </p:sp>
      <p:sp>
        <p:nvSpPr>
          <p:cNvPr id="6" name="Rectangle 5"/>
          <p:cNvSpPr/>
          <p:nvPr/>
        </p:nvSpPr>
        <p:spPr>
          <a:xfrm>
            <a:off x="640080" y="1783080"/>
            <a:ext cx="137160" cy="13716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3291840"/>
            <a:ext cx="10972800" cy="1371600"/>
          </a:xfrm>
          <a:prstGeom prst="roundRect">
            <a:avLst>
              <a:gd name="adj" fmla="val 6000"/>
            </a:avLst>
          </a:prstGeom>
          <a:solidFill>
            <a:srgbClr val="142A47"/>
          </a:solidFill>
          <a:ln w="1587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320040" rIns="320040" tIns="182880" wrap="square"/>
          <a:lstStyle/>
          <a:p>
            <a:pPr algn="r"/>
            <a:r>
              <a:rPr sz="1800" b="1" rtl="1">
                <a:solidFill>
                  <a:srgbClr val="FBBF24"/>
                </a:solidFill>
                <a:latin typeface="Arial"/>
              </a:rPr>
              <a:t>طبقة المنطق  (Logic)   </a:t>
            </a:r>
            <a:r>
              <a:rPr sz="1200" i="1">
                <a:solidFill>
                  <a:srgbClr val="C0C8D4"/>
                </a:solidFill>
                <a:latin typeface="Calibri"/>
              </a:rPr>
              <a:t>JavaScript Services  —  services/*.js</a:t>
            </a:r>
          </a:p>
          <a:p>
            <a:pPr algn="r">
              <a:spcBef>
                <a:spcPts val="600"/>
              </a:spcBef>
            </a:pPr>
            <a:r>
              <a:rPr sz="1300" rtl="1">
                <a:solidFill>
                  <a:srgbClr val="F8FAFC"/>
                </a:solidFill>
                <a:latin typeface="Arial"/>
              </a:rPr>
              <a:t>خدمات العمل: محرك التداول الذري، خدمة المحاكاة الشمسية،
وإدارة المنازل وطرق الدفع والمواقع الجغرافية.</a:t>
            </a:r>
          </a:p>
        </p:txBody>
      </p:sp>
      <p:sp>
        <p:nvSpPr>
          <p:cNvPr id="8" name="Rectangle 7"/>
          <p:cNvSpPr/>
          <p:nvPr/>
        </p:nvSpPr>
        <p:spPr>
          <a:xfrm>
            <a:off x="640080" y="3291840"/>
            <a:ext cx="137160" cy="13716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4800600"/>
            <a:ext cx="10972800" cy="1371600"/>
          </a:xfrm>
          <a:prstGeom prst="roundRect">
            <a:avLst>
              <a:gd name="adj" fmla="val 6000"/>
            </a:avLst>
          </a:prstGeom>
          <a:solidFill>
            <a:srgbClr val="142A47"/>
          </a:solidFill>
          <a:ln w="15875">
            <a:solidFill>
              <a:srgbClr val="C0C8D4"/>
            </a:solidFill>
          </a:ln>
        </p:spPr>
        <p:style>
          <a:lnRef idx="1">
            <a:schemeClr val="accent1"/>
          </a:lnRef>
          <a:fillRef idx="3">
            <a:schemeClr val="accent1"/>
          </a:fillRef>
          <a:effectRef idx="2">
            <a:schemeClr val="accent1"/>
          </a:effectRef>
          <a:fontRef idx="minor">
            <a:schemeClr val="lt1"/>
          </a:fontRef>
        </p:style>
        <p:txBody>
          <a:bodyPr rtlCol="0" anchor="ctr" lIns="320040" rIns="320040" tIns="182880" wrap="square"/>
          <a:lstStyle/>
          <a:p>
            <a:pPr algn="r"/>
            <a:r>
              <a:rPr sz="1800" b="1" rtl="1">
                <a:solidFill>
                  <a:srgbClr val="C0C8D4"/>
                </a:solidFill>
                <a:latin typeface="Arial"/>
              </a:rPr>
              <a:t>طبقة البيانات  (Data)   </a:t>
            </a:r>
            <a:r>
              <a:rPr sz="1200" i="1">
                <a:solidFill>
                  <a:srgbClr val="C0C8D4"/>
                </a:solidFill>
                <a:latin typeface="Calibri"/>
              </a:rPr>
              <a:t>Cloud Firestore  +  Firebase Authentication</a:t>
            </a:r>
          </a:p>
          <a:p>
            <a:pPr algn="r">
              <a:spcBef>
                <a:spcPts val="600"/>
              </a:spcBef>
            </a:pPr>
            <a:r>
              <a:rPr sz="1300" rtl="1">
                <a:solidFill>
                  <a:srgbClr val="F8FAFC"/>
                </a:solidFill>
                <a:latin typeface="Arial"/>
              </a:rPr>
              <a:t>قاعدة بيانات فورية (Real-time) مع قواعد أمان صارمة.
مصادقة عبر البريد الإلكتروني وكلمة المرور.</a:t>
            </a:r>
          </a:p>
        </p:txBody>
      </p:sp>
      <p:sp>
        <p:nvSpPr>
          <p:cNvPr id="10" name="Rectangle 9"/>
          <p:cNvSpPr/>
          <p:nvPr/>
        </p:nvSpPr>
        <p:spPr>
          <a:xfrm>
            <a:off x="640080" y="4800600"/>
            <a:ext cx="137160" cy="1371600"/>
          </a:xfrm>
          <a:prstGeom prst="rect">
            <a:avLst/>
          </a:prstGeom>
          <a:solidFill>
            <a:srgbClr val="C0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6400800"/>
            <a:ext cx="11064240" cy="9525"/>
          </a:xfrm>
          <a:prstGeom prst="rect">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473952"/>
            <a:ext cx="5943600" cy="320040"/>
          </a:xfrm>
          <a:prstGeom prst="rect">
            <a:avLst/>
          </a:prstGeom>
          <a:noFill/>
        </p:spPr>
        <p:txBody>
          <a:bodyPr wrap="none" lIns="0" rIns="0">
            <a:spAutoFit/>
          </a:bodyPr>
          <a:lstStyle/>
          <a:p>
            <a:pPr algn="l"/>
            <a:r>
              <a:rPr sz="900">
                <a:solidFill>
                  <a:srgbClr val="C0C8D4"/>
                </a:solidFill>
                <a:latin typeface="Calibri"/>
              </a:rPr>
              <a:t>Solar Trading Simulation  |  Ajdabiya University</a:t>
            </a:r>
          </a:p>
        </p:txBody>
      </p:sp>
      <p:sp>
        <p:nvSpPr>
          <p:cNvPr id="13" name="TextBox 12"/>
          <p:cNvSpPr txBox="1"/>
          <p:nvPr/>
        </p:nvSpPr>
        <p:spPr>
          <a:xfrm>
            <a:off x="10241280" y="6473952"/>
            <a:ext cx="1371600" cy="320040"/>
          </a:xfrm>
          <a:prstGeom prst="rect">
            <a:avLst/>
          </a:prstGeom>
          <a:noFill/>
        </p:spPr>
        <p:txBody>
          <a:bodyPr wrap="none" lIns="0" rIns="0">
            <a:spAutoFit/>
          </a:bodyPr>
          <a:lstStyle/>
          <a:p>
            <a:pPr algn="r"/>
            <a:r>
              <a:rPr sz="1000" b="1">
                <a:solidFill>
                  <a:srgbClr val="F59E0B"/>
                </a:solidFill>
                <a:latin typeface="Calibri"/>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2286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11064240" cy="914400"/>
          </a:xfrm>
          <a:prstGeom prst="rect">
            <a:avLst/>
          </a:prstGeom>
          <a:noFill/>
        </p:spPr>
        <p:txBody>
          <a:bodyPr wrap="square" lIns="0" rIns="0">
            <a:spAutoFit/>
          </a:bodyPr>
          <a:lstStyle/>
          <a:p>
            <a:pPr algn="r"/>
            <a:r>
              <a:rPr sz="3200" b="1" rtl="1">
                <a:solidFill>
                  <a:srgbClr val="F8FAFC"/>
                </a:solidFill>
                <a:latin typeface="Arial"/>
              </a:rPr>
              <a:t>مخطط قاعدة البيانات  —  مجموعات Firestore</a:t>
            </a:r>
          </a:p>
          <a:p>
            <a:pPr algn="r"/>
            <a:r>
              <a:rPr sz="1300" i="1">
                <a:solidFill>
                  <a:srgbClr val="F59E0B"/>
                </a:solidFill>
                <a:latin typeface="Calibri"/>
              </a:rPr>
              <a:t>Firestore Database Schema</a:t>
            </a:r>
          </a:p>
        </p:txBody>
      </p:sp>
      <p:sp>
        <p:nvSpPr>
          <p:cNvPr id="5" name="Rounded Rectangle 4"/>
          <p:cNvSpPr/>
          <p:nvPr/>
        </p:nvSpPr>
        <p:spPr>
          <a:xfrm>
            <a:off x="548640" y="1783080"/>
            <a:ext cx="11064240" cy="1051560"/>
          </a:xfrm>
          <a:prstGeom prst="roundRect">
            <a:avLst>
              <a:gd name="adj" fmla="val 8000"/>
            </a:avLst>
          </a:prstGeom>
          <a:solidFill>
            <a:srgbClr val="142A4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2377440" cy="777240"/>
          </a:xfrm>
          <a:prstGeom prst="rect">
            <a:avLst/>
          </a:prstGeom>
          <a:noFill/>
        </p:spPr>
        <p:txBody>
          <a:bodyPr wrap="none" lIns="0" anchor="ctr">
            <a:spAutoFit/>
          </a:bodyPr>
          <a:lstStyle/>
          <a:p>
            <a:pPr algn="l"/>
            <a:r>
              <a:rPr sz="2000" b="1">
                <a:solidFill>
                  <a:srgbClr val="F59E0B"/>
                </a:solidFill>
                <a:latin typeface="Calibri"/>
              </a:rPr>
              <a:t>/homes</a:t>
            </a:r>
          </a:p>
        </p:txBody>
      </p:sp>
      <p:sp>
        <p:nvSpPr>
          <p:cNvPr id="7" name="TextBox 6"/>
          <p:cNvSpPr txBox="1"/>
          <p:nvPr/>
        </p:nvSpPr>
        <p:spPr>
          <a:xfrm>
            <a:off x="3200400" y="1874520"/>
            <a:ext cx="8229600" cy="868680"/>
          </a:xfrm>
          <a:prstGeom prst="rect">
            <a:avLst/>
          </a:prstGeom>
          <a:noFill/>
        </p:spPr>
        <p:txBody>
          <a:bodyPr wrap="square" lIns="0" anchor="ctr">
            <a:spAutoFit/>
          </a:bodyPr>
          <a:lstStyle/>
          <a:p>
            <a:pPr algn="r"/>
            <a:r>
              <a:rPr sz="1300" rtl="1">
                <a:solidFill>
                  <a:srgbClr val="F8FAFC"/>
                </a:solidFill>
                <a:latin typeface="Arial"/>
              </a:rPr>
              <a:t>وثيقة لكل منزل تحتوي: الاسم، البريد، الهاتف، المدينة، الحي، الشارع،
رصيد الطاقة (kWh)، رصيد المحفظة (د.ل)، طريقة الدفع، وصلاحية المدير.</a:t>
            </a:r>
          </a:p>
        </p:txBody>
      </p:sp>
      <p:sp>
        <p:nvSpPr>
          <p:cNvPr id="8" name="Rounded Rectangle 7"/>
          <p:cNvSpPr/>
          <p:nvPr/>
        </p:nvSpPr>
        <p:spPr>
          <a:xfrm>
            <a:off x="548640" y="2953512"/>
            <a:ext cx="11064240" cy="1051560"/>
          </a:xfrm>
          <a:prstGeom prst="roundRect">
            <a:avLst>
              <a:gd name="adj" fmla="val 8000"/>
            </a:avLst>
          </a:prstGeom>
          <a:solidFill>
            <a:srgbClr val="142A4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90672"/>
            <a:ext cx="2377440" cy="777240"/>
          </a:xfrm>
          <a:prstGeom prst="rect">
            <a:avLst/>
          </a:prstGeom>
          <a:noFill/>
        </p:spPr>
        <p:txBody>
          <a:bodyPr wrap="none" lIns="0" anchor="ctr">
            <a:spAutoFit/>
          </a:bodyPr>
          <a:lstStyle/>
          <a:p>
            <a:pPr algn="l"/>
            <a:r>
              <a:rPr sz="2000" b="1">
                <a:solidFill>
                  <a:srgbClr val="F59E0B"/>
                </a:solidFill>
                <a:latin typeface="Calibri"/>
              </a:rPr>
              <a:t>/offers</a:t>
            </a:r>
          </a:p>
        </p:txBody>
      </p:sp>
      <p:sp>
        <p:nvSpPr>
          <p:cNvPr id="10" name="TextBox 9"/>
          <p:cNvSpPr txBox="1"/>
          <p:nvPr/>
        </p:nvSpPr>
        <p:spPr>
          <a:xfrm>
            <a:off x="3200400" y="3044952"/>
            <a:ext cx="8229600" cy="868680"/>
          </a:xfrm>
          <a:prstGeom prst="rect">
            <a:avLst/>
          </a:prstGeom>
          <a:noFill/>
        </p:spPr>
        <p:txBody>
          <a:bodyPr wrap="square" lIns="0" anchor="ctr">
            <a:spAutoFit/>
          </a:bodyPr>
          <a:lstStyle/>
          <a:p>
            <a:pPr algn="r"/>
            <a:r>
              <a:rPr sz="1300" rtl="1">
                <a:solidFill>
                  <a:srgbClr val="F8FAFC"/>
                </a:solidFill>
                <a:latin typeface="Arial"/>
              </a:rPr>
              <a:t>عروض البيع النشطة في السوق: البائع، الكمية، السعر لكل كيلوواط،
موقع البائع (مدينة وحي وشارع)، والحالة (مفتوح / منجَز / ملغي).</a:t>
            </a:r>
          </a:p>
        </p:txBody>
      </p:sp>
      <p:sp>
        <p:nvSpPr>
          <p:cNvPr id="11" name="Rounded Rectangle 10"/>
          <p:cNvSpPr/>
          <p:nvPr/>
        </p:nvSpPr>
        <p:spPr>
          <a:xfrm>
            <a:off x="548640" y="4123944"/>
            <a:ext cx="11064240" cy="1051560"/>
          </a:xfrm>
          <a:prstGeom prst="roundRect">
            <a:avLst>
              <a:gd name="adj" fmla="val 8000"/>
            </a:avLst>
          </a:prstGeom>
          <a:solidFill>
            <a:srgbClr val="142A4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61104"/>
            <a:ext cx="2377440" cy="777240"/>
          </a:xfrm>
          <a:prstGeom prst="rect">
            <a:avLst/>
          </a:prstGeom>
          <a:noFill/>
        </p:spPr>
        <p:txBody>
          <a:bodyPr wrap="none" lIns="0" anchor="ctr">
            <a:spAutoFit/>
          </a:bodyPr>
          <a:lstStyle/>
          <a:p>
            <a:pPr algn="l"/>
            <a:r>
              <a:rPr sz="2000" b="1">
                <a:solidFill>
                  <a:srgbClr val="F59E0B"/>
                </a:solidFill>
                <a:latin typeface="Calibri"/>
              </a:rPr>
              <a:t>/transactions</a:t>
            </a:r>
          </a:p>
        </p:txBody>
      </p:sp>
      <p:sp>
        <p:nvSpPr>
          <p:cNvPr id="13" name="TextBox 12"/>
          <p:cNvSpPr txBox="1"/>
          <p:nvPr/>
        </p:nvSpPr>
        <p:spPr>
          <a:xfrm>
            <a:off x="3200400" y="4215384"/>
            <a:ext cx="8229600" cy="868680"/>
          </a:xfrm>
          <a:prstGeom prst="rect">
            <a:avLst/>
          </a:prstGeom>
          <a:noFill/>
        </p:spPr>
        <p:txBody>
          <a:bodyPr wrap="square" lIns="0" anchor="ctr">
            <a:spAutoFit/>
          </a:bodyPr>
          <a:lstStyle/>
          <a:p>
            <a:pPr algn="r"/>
            <a:r>
              <a:rPr sz="1300" rtl="1">
                <a:solidFill>
                  <a:srgbClr val="F8FAFC"/>
                </a:solidFill>
                <a:latin typeface="Arial"/>
              </a:rPr>
              <a:t>سجل ثابت وغير قابل للتعديل (Immutable Ledger) لكل صفقة تمّت،
يحتوي مرجع الدفع، الطرفين، الكمية، السعر، الإجمالي، والوقت.</a:t>
            </a:r>
          </a:p>
        </p:txBody>
      </p:sp>
      <p:sp>
        <p:nvSpPr>
          <p:cNvPr id="14" name="Rounded Rectangle 13"/>
          <p:cNvSpPr/>
          <p:nvPr/>
        </p:nvSpPr>
        <p:spPr>
          <a:xfrm>
            <a:off x="548640" y="5294376"/>
            <a:ext cx="11064240" cy="1051560"/>
          </a:xfrm>
          <a:prstGeom prst="roundRect">
            <a:avLst>
              <a:gd name="adj" fmla="val 8000"/>
            </a:avLst>
          </a:prstGeom>
          <a:solidFill>
            <a:srgbClr val="142A4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431536"/>
            <a:ext cx="2377440" cy="777240"/>
          </a:xfrm>
          <a:prstGeom prst="rect">
            <a:avLst/>
          </a:prstGeom>
          <a:noFill/>
        </p:spPr>
        <p:txBody>
          <a:bodyPr wrap="none" lIns="0" anchor="ctr">
            <a:spAutoFit/>
          </a:bodyPr>
          <a:lstStyle/>
          <a:p>
            <a:pPr algn="l"/>
            <a:r>
              <a:rPr sz="2000" b="1">
                <a:solidFill>
                  <a:srgbClr val="F59E0B"/>
                </a:solidFill>
                <a:latin typeface="Calibri"/>
              </a:rPr>
              <a:t>/dailyStats</a:t>
            </a:r>
          </a:p>
        </p:txBody>
      </p:sp>
      <p:sp>
        <p:nvSpPr>
          <p:cNvPr id="16" name="TextBox 15"/>
          <p:cNvSpPr txBox="1"/>
          <p:nvPr/>
        </p:nvSpPr>
        <p:spPr>
          <a:xfrm>
            <a:off x="3200400" y="5385816"/>
            <a:ext cx="8229600" cy="868680"/>
          </a:xfrm>
          <a:prstGeom prst="rect">
            <a:avLst/>
          </a:prstGeom>
          <a:noFill/>
        </p:spPr>
        <p:txBody>
          <a:bodyPr wrap="square" lIns="0" anchor="ctr">
            <a:spAutoFit/>
          </a:bodyPr>
          <a:lstStyle/>
          <a:p>
            <a:pPr algn="r"/>
            <a:r>
              <a:rPr sz="1300" rtl="1">
                <a:solidFill>
                  <a:srgbClr val="F8FAFC"/>
                </a:solidFill>
                <a:latin typeface="Arial"/>
              </a:rPr>
              <a:t>إحصائيات يومية داخل كل منزل: الإنتاج، الاستهلاك، والفائض،
محسوبة عبر النموذج الرياضي الشمسي.</a:t>
            </a:r>
          </a:p>
        </p:txBody>
      </p:sp>
      <p:sp>
        <p:nvSpPr>
          <p:cNvPr id="17" name="Rectangle 16"/>
          <p:cNvSpPr/>
          <p:nvPr/>
        </p:nvSpPr>
        <p:spPr>
          <a:xfrm>
            <a:off x="548640" y="6400800"/>
            <a:ext cx="11064240" cy="9525"/>
          </a:xfrm>
          <a:prstGeom prst="rect">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473952"/>
            <a:ext cx="5943600" cy="320040"/>
          </a:xfrm>
          <a:prstGeom prst="rect">
            <a:avLst/>
          </a:prstGeom>
          <a:noFill/>
        </p:spPr>
        <p:txBody>
          <a:bodyPr wrap="none" lIns="0" rIns="0">
            <a:spAutoFit/>
          </a:bodyPr>
          <a:lstStyle/>
          <a:p>
            <a:pPr algn="l"/>
            <a:r>
              <a:rPr sz="900">
                <a:solidFill>
                  <a:srgbClr val="C0C8D4"/>
                </a:solidFill>
                <a:latin typeface="Calibri"/>
              </a:rPr>
              <a:t>Solar Trading Simulation  |  Ajdabiya University</a:t>
            </a:r>
          </a:p>
        </p:txBody>
      </p:sp>
      <p:sp>
        <p:nvSpPr>
          <p:cNvPr id="19" name="TextBox 18"/>
          <p:cNvSpPr txBox="1"/>
          <p:nvPr/>
        </p:nvSpPr>
        <p:spPr>
          <a:xfrm>
            <a:off x="10241280" y="6473952"/>
            <a:ext cx="1371600" cy="320040"/>
          </a:xfrm>
          <a:prstGeom prst="rect">
            <a:avLst/>
          </a:prstGeom>
          <a:noFill/>
        </p:spPr>
        <p:txBody>
          <a:bodyPr wrap="none" lIns="0" rIns="0">
            <a:spAutoFit/>
          </a:bodyPr>
          <a:lstStyle/>
          <a:p>
            <a:pPr algn="r"/>
            <a:r>
              <a:rPr sz="1000" b="1">
                <a:solidFill>
                  <a:srgbClr val="F59E0B"/>
                </a:solidFill>
                <a:latin typeface="Calibr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2286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11064240" cy="914400"/>
          </a:xfrm>
          <a:prstGeom prst="rect">
            <a:avLst/>
          </a:prstGeom>
          <a:noFill/>
        </p:spPr>
        <p:txBody>
          <a:bodyPr wrap="square" lIns="0" rIns="0">
            <a:spAutoFit/>
          </a:bodyPr>
          <a:lstStyle/>
          <a:p>
            <a:pPr algn="r"/>
            <a:r>
              <a:rPr sz="3200" b="1" rtl="1">
                <a:solidFill>
                  <a:srgbClr val="F8FAFC"/>
                </a:solidFill>
                <a:latin typeface="Arial"/>
              </a:rPr>
              <a:t>محرك التداول الذري  —  executeEnergyTrade</a:t>
            </a:r>
          </a:p>
          <a:p>
            <a:pPr algn="r"/>
            <a:r>
              <a:rPr sz="1300" i="1">
                <a:solidFill>
                  <a:srgbClr val="F59E0B"/>
                </a:solidFill>
                <a:latin typeface="Calibri"/>
              </a:rPr>
              <a:t>The Atomic Trading Engine</a:t>
            </a:r>
          </a:p>
        </p:txBody>
      </p:sp>
      <p:sp>
        <p:nvSpPr>
          <p:cNvPr id="5" name="Rounded Rectangle 4"/>
          <p:cNvSpPr/>
          <p:nvPr/>
        </p:nvSpPr>
        <p:spPr>
          <a:xfrm>
            <a:off x="548640" y="1783080"/>
            <a:ext cx="11064240" cy="685800"/>
          </a:xfrm>
          <a:prstGeom prst="roundRect">
            <a:avLst>
              <a:gd name="adj" fmla="val 12000"/>
            </a:avLst>
          </a:prstGeom>
          <a:solidFill>
            <a:srgbClr val="142A4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500" b="1" rtl="1">
                <a:solidFill>
                  <a:srgbClr val="FBBF24"/>
                </a:solidFill>
                <a:latin typeface="Arial"/>
              </a:rPr>
              <a:t>المبدأ الأساسي: كل الخطوات تنجح معاً أو تُلغى معاً  —  لا حالة وسطى.</a:t>
            </a:r>
          </a:p>
        </p:txBody>
      </p:sp>
      <p:sp>
        <p:nvSpPr>
          <p:cNvPr id="6" name="Rounded Rectangle 5"/>
          <p:cNvSpPr/>
          <p:nvPr/>
        </p:nvSpPr>
        <p:spPr>
          <a:xfrm>
            <a:off x="640080" y="2880360"/>
            <a:ext cx="2148840" cy="2194560"/>
          </a:xfrm>
          <a:prstGeom prst="roundRect">
            <a:avLst>
              <a:gd name="adj" fmla="val 5000"/>
            </a:avLst>
          </a:prstGeom>
          <a:solidFill>
            <a:srgbClr val="1E3A5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457200" bIns="182880" lIns="137160" rIns="137160" wrap="square"/>
          <a:lstStyle/>
          <a:p>
            <a:pPr algn="ctr"/>
            <a:r>
              <a:rPr sz="1500" b="1">
                <a:solidFill>
                  <a:srgbClr val="F59E0B"/>
                </a:solidFill>
                <a:latin typeface="Calibri"/>
              </a:rPr>
              <a:t>Fetch</a:t>
            </a:r>
          </a:p>
          <a:p>
            <a:pPr algn="ctr">
              <a:spcBef>
                <a:spcPts val="1000"/>
              </a:spcBef>
            </a:pPr>
            <a:r>
              <a:rPr sz="1200" rtl="1">
                <a:solidFill>
                  <a:srgbClr val="F8FAFC"/>
                </a:solidFill>
                <a:latin typeface="Arial"/>
              </a:rPr>
              <a:t>جلب بيانات
العرض والطرفين</a:t>
            </a:r>
          </a:p>
        </p:txBody>
      </p:sp>
      <p:sp>
        <p:nvSpPr>
          <p:cNvPr id="7" name="Oval 6"/>
          <p:cNvSpPr/>
          <p:nvPr/>
        </p:nvSpPr>
        <p:spPr>
          <a:xfrm>
            <a:off x="1440180" y="2606040"/>
            <a:ext cx="548640" cy="5486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r>
              <a:rPr sz="1800" b="1">
                <a:solidFill>
                  <a:srgbClr val="0B1E36"/>
                </a:solidFill>
                <a:latin typeface="Calibri"/>
              </a:rPr>
              <a:t>1</a:t>
            </a:r>
          </a:p>
        </p:txBody>
      </p:sp>
      <p:sp>
        <p:nvSpPr>
          <p:cNvPr id="8" name="Rounded Rectangle 7"/>
          <p:cNvSpPr/>
          <p:nvPr/>
        </p:nvSpPr>
        <p:spPr>
          <a:xfrm>
            <a:off x="2880360" y="2880360"/>
            <a:ext cx="2148840" cy="2194560"/>
          </a:xfrm>
          <a:prstGeom prst="roundRect">
            <a:avLst>
              <a:gd name="adj" fmla="val 5000"/>
            </a:avLst>
          </a:prstGeom>
          <a:solidFill>
            <a:srgbClr val="1E3A5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457200" bIns="182880" lIns="137160" rIns="137160" wrap="square"/>
          <a:lstStyle/>
          <a:p>
            <a:pPr algn="ctr"/>
            <a:r>
              <a:rPr sz="1500" b="1">
                <a:solidFill>
                  <a:srgbClr val="F59E0B"/>
                </a:solidFill>
                <a:latin typeface="Calibri"/>
              </a:rPr>
              <a:t>Validate</a:t>
            </a:r>
          </a:p>
          <a:p>
            <a:pPr algn="ctr">
              <a:spcBef>
                <a:spcPts val="1000"/>
              </a:spcBef>
            </a:pPr>
            <a:r>
              <a:rPr sz="1200" rtl="1">
                <a:solidFill>
                  <a:srgbClr val="F8FAFC"/>
                </a:solidFill>
                <a:latin typeface="Arial"/>
              </a:rPr>
              <a:t>التحقق من
الأرصدة والصلاحيات</a:t>
            </a:r>
          </a:p>
        </p:txBody>
      </p:sp>
      <p:sp>
        <p:nvSpPr>
          <p:cNvPr id="9" name="Oval 8"/>
          <p:cNvSpPr/>
          <p:nvPr/>
        </p:nvSpPr>
        <p:spPr>
          <a:xfrm>
            <a:off x="3680460" y="2606040"/>
            <a:ext cx="548640" cy="5486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r>
              <a:rPr sz="1800" b="1">
                <a:solidFill>
                  <a:srgbClr val="0B1E36"/>
                </a:solidFill>
                <a:latin typeface="Calibri"/>
              </a:rPr>
              <a:t>2</a:t>
            </a:r>
          </a:p>
        </p:txBody>
      </p:sp>
      <p:sp>
        <p:nvSpPr>
          <p:cNvPr id="10" name="Rounded Rectangle 9"/>
          <p:cNvSpPr/>
          <p:nvPr/>
        </p:nvSpPr>
        <p:spPr>
          <a:xfrm>
            <a:off x="5120640" y="2880360"/>
            <a:ext cx="2148840" cy="2194560"/>
          </a:xfrm>
          <a:prstGeom prst="roundRect">
            <a:avLst>
              <a:gd name="adj" fmla="val 5000"/>
            </a:avLst>
          </a:prstGeom>
          <a:solidFill>
            <a:srgbClr val="1E3A5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457200" bIns="182880" lIns="137160" rIns="137160" wrap="square"/>
          <a:lstStyle/>
          <a:p>
            <a:pPr algn="ctr"/>
            <a:r>
              <a:rPr sz="1500" b="1">
                <a:solidFill>
                  <a:srgbClr val="F59E0B"/>
                </a:solidFill>
                <a:latin typeface="Calibri"/>
              </a:rPr>
              <a:t>Deduct</a:t>
            </a:r>
          </a:p>
          <a:p>
            <a:pPr algn="ctr">
              <a:spcBef>
                <a:spcPts val="1000"/>
              </a:spcBef>
            </a:pPr>
            <a:r>
              <a:rPr sz="1200" rtl="1">
                <a:solidFill>
                  <a:srgbClr val="F8FAFC"/>
                </a:solidFill>
                <a:latin typeface="Arial"/>
              </a:rPr>
              <a:t>خصم الطاقة
من البائع</a:t>
            </a:r>
          </a:p>
        </p:txBody>
      </p:sp>
      <p:sp>
        <p:nvSpPr>
          <p:cNvPr id="11" name="Oval 10"/>
          <p:cNvSpPr/>
          <p:nvPr/>
        </p:nvSpPr>
        <p:spPr>
          <a:xfrm>
            <a:off x="5920740" y="2606040"/>
            <a:ext cx="548640" cy="5486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r>
              <a:rPr sz="1800" b="1">
                <a:solidFill>
                  <a:srgbClr val="0B1E36"/>
                </a:solidFill>
                <a:latin typeface="Calibri"/>
              </a:rPr>
              <a:t>3</a:t>
            </a:r>
          </a:p>
        </p:txBody>
      </p:sp>
      <p:sp>
        <p:nvSpPr>
          <p:cNvPr id="12" name="Rounded Rectangle 11"/>
          <p:cNvSpPr/>
          <p:nvPr/>
        </p:nvSpPr>
        <p:spPr>
          <a:xfrm>
            <a:off x="7360920" y="2880360"/>
            <a:ext cx="2148840" cy="2194560"/>
          </a:xfrm>
          <a:prstGeom prst="roundRect">
            <a:avLst>
              <a:gd name="adj" fmla="val 5000"/>
            </a:avLst>
          </a:prstGeom>
          <a:solidFill>
            <a:srgbClr val="1E3A5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457200" bIns="182880" lIns="137160" rIns="137160" wrap="square"/>
          <a:lstStyle/>
          <a:p>
            <a:pPr algn="ctr"/>
            <a:r>
              <a:rPr sz="1500" b="1">
                <a:solidFill>
                  <a:srgbClr val="F59E0B"/>
                </a:solidFill>
                <a:latin typeface="Calibri"/>
              </a:rPr>
              <a:t>Add</a:t>
            </a:r>
          </a:p>
          <a:p>
            <a:pPr algn="ctr">
              <a:spcBef>
                <a:spcPts val="1000"/>
              </a:spcBef>
            </a:pPr>
            <a:r>
              <a:rPr sz="1200" rtl="1">
                <a:solidFill>
                  <a:srgbClr val="F8FAFC"/>
                </a:solidFill>
                <a:latin typeface="Arial"/>
              </a:rPr>
              <a:t>إضافة الطاقة
للمشتري</a:t>
            </a:r>
          </a:p>
        </p:txBody>
      </p:sp>
      <p:sp>
        <p:nvSpPr>
          <p:cNvPr id="13" name="Oval 12"/>
          <p:cNvSpPr/>
          <p:nvPr/>
        </p:nvSpPr>
        <p:spPr>
          <a:xfrm>
            <a:off x="8161020" y="2606040"/>
            <a:ext cx="548640" cy="5486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r>
              <a:rPr sz="1800" b="1">
                <a:solidFill>
                  <a:srgbClr val="0B1E36"/>
                </a:solidFill>
                <a:latin typeface="Calibri"/>
              </a:rPr>
              <a:t>4</a:t>
            </a:r>
          </a:p>
        </p:txBody>
      </p:sp>
      <p:sp>
        <p:nvSpPr>
          <p:cNvPr id="14" name="Rounded Rectangle 13"/>
          <p:cNvSpPr/>
          <p:nvPr/>
        </p:nvSpPr>
        <p:spPr>
          <a:xfrm>
            <a:off x="9601200" y="2880360"/>
            <a:ext cx="2148840" cy="2194560"/>
          </a:xfrm>
          <a:prstGeom prst="roundRect">
            <a:avLst>
              <a:gd name="adj" fmla="val 5000"/>
            </a:avLst>
          </a:prstGeom>
          <a:solidFill>
            <a:srgbClr val="1E3A5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457200" bIns="182880" lIns="137160" rIns="137160" wrap="square"/>
          <a:lstStyle/>
          <a:p>
            <a:pPr algn="ctr"/>
            <a:r>
              <a:rPr sz="1500" b="1">
                <a:solidFill>
                  <a:srgbClr val="F59E0B"/>
                </a:solidFill>
                <a:latin typeface="Calibri"/>
              </a:rPr>
              <a:t>Commit</a:t>
            </a:r>
          </a:p>
          <a:p>
            <a:pPr algn="ctr">
              <a:spcBef>
                <a:spcPts val="1000"/>
              </a:spcBef>
            </a:pPr>
            <a:r>
              <a:rPr sz="1200" rtl="1">
                <a:solidFill>
                  <a:srgbClr val="F8FAFC"/>
                </a:solidFill>
                <a:latin typeface="Arial"/>
              </a:rPr>
              <a:t>كتابة سجل
المعاملة الدائم</a:t>
            </a:r>
          </a:p>
        </p:txBody>
      </p:sp>
      <p:sp>
        <p:nvSpPr>
          <p:cNvPr id="15" name="Oval 14"/>
          <p:cNvSpPr/>
          <p:nvPr/>
        </p:nvSpPr>
        <p:spPr>
          <a:xfrm>
            <a:off x="10401300" y="2606040"/>
            <a:ext cx="548640" cy="5486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r>
              <a:rPr sz="1800" b="1">
                <a:solidFill>
                  <a:srgbClr val="0B1E36"/>
                </a:solidFill>
                <a:latin typeface="Calibri"/>
              </a:rPr>
              <a:t>5</a:t>
            </a:r>
          </a:p>
        </p:txBody>
      </p:sp>
      <p:sp>
        <p:nvSpPr>
          <p:cNvPr id="16" name="Rounded Rectangle 15"/>
          <p:cNvSpPr/>
          <p:nvPr/>
        </p:nvSpPr>
        <p:spPr>
          <a:xfrm>
            <a:off x="2286000" y="5532120"/>
            <a:ext cx="7589520" cy="640080"/>
          </a:xfrm>
          <a:prstGeom prst="roundRect">
            <a:avLst>
              <a:gd name="adj" fmla="val 3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500" b="1" rtl="1">
                <a:solidFill>
                  <a:srgbClr val="0B1E36"/>
                </a:solidFill>
                <a:latin typeface="Arial"/>
              </a:rPr>
              <a:t>batch.commit()  —  تنفيذ ذري كامل يضمن الاتساق التام للبيانات</a:t>
            </a:r>
          </a:p>
        </p:txBody>
      </p:sp>
      <p:sp>
        <p:nvSpPr>
          <p:cNvPr id="17" name="Rectangle 16"/>
          <p:cNvSpPr/>
          <p:nvPr/>
        </p:nvSpPr>
        <p:spPr>
          <a:xfrm>
            <a:off x="548640" y="6400800"/>
            <a:ext cx="11064240" cy="9525"/>
          </a:xfrm>
          <a:prstGeom prst="rect">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473952"/>
            <a:ext cx="5943600" cy="320040"/>
          </a:xfrm>
          <a:prstGeom prst="rect">
            <a:avLst/>
          </a:prstGeom>
          <a:noFill/>
        </p:spPr>
        <p:txBody>
          <a:bodyPr wrap="none" lIns="0" rIns="0">
            <a:spAutoFit/>
          </a:bodyPr>
          <a:lstStyle/>
          <a:p>
            <a:pPr algn="l"/>
            <a:r>
              <a:rPr sz="900">
                <a:solidFill>
                  <a:srgbClr val="C0C8D4"/>
                </a:solidFill>
                <a:latin typeface="Calibri"/>
              </a:rPr>
              <a:t>Solar Trading Simulation  |  Ajdabiya University</a:t>
            </a:r>
          </a:p>
        </p:txBody>
      </p:sp>
      <p:sp>
        <p:nvSpPr>
          <p:cNvPr id="19" name="TextBox 18"/>
          <p:cNvSpPr txBox="1"/>
          <p:nvPr/>
        </p:nvSpPr>
        <p:spPr>
          <a:xfrm>
            <a:off x="10241280" y="6473952"/>
            <a:ext cx="1371600" cy="320040"/>
          </a:xfrm>
          <a:prstGeom prst="rect">
            <a:avLst/>
          </a:prstGeom>
          <a:noFill/>
        </p:spPr>
        <p:txBody>
          <a:bodyPr wrap="none" lIns="0" rIns="0">
            <a:spAutoFit/>
          </a:bodyPr>
          <a:lstStyle/>
          <a:p>
            <a:pPr algn="r"/>
            <a:r>
              <a:rPr sz="1000" b="1">
                <a:solidFill>
                  <a:srgbClr val="F59E0B"/>
                </a:solidFill>
                <a:latin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2286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11064240" cy="914400"/>
          </a:xfrm>
          <a:prstGeom prst="rect">
            <a:avLst/>
          </a:prstGeom>
          <a:noFill/>
        </p:spPr>
        <p:txBody>
          <a:bodyPr wrap="square" lIns="0" rIns="0">
            <a:spAutoFit/>
          </a:bodyPr>
          <a:lstStyle/>
          <a:p>
            <a:pPr algn="r"/>
            <a:r>
              <a:rPr sz="3200" b="1" rtl="1">
                <a:solidFill>
                  <a:srgbClr val="F8FAFC"/>
                </a:solidFill>
                <a:latin typeface="Arial"/>
              </a:rPr>
              <a:t>النموذج الرياضي لمحاكاة الإنتاج الشمسي</a:t>
            </a:r>
          </a:p>
          <a:p>
            <a:pPr algn="r"/>
            <a:r>
              <a:rPr sz="1300" i="1">
                <a:solidFill>
                  <a:srgbClr val="F59E0B"/>
                </a:solidFill>
                <a:latin typeface="Calibri"/>
              </a:rPr>
              <a:t>Mathematical Simulation Model</a:t>
            </a:r>
          </a:p>
        </p:txBody>
      </p:sp>
      <p:sp>
        <p:nvSpPr>
          <p:cNvPr id="5" name="Rounded Rectangle 4"/>
          <p:cNvSpPr/>
          <p:nvPr/>
        </p:nvSpPr>
        <p:spPr>
          <a:xfrm>
            <a:off x="1371600" y="1828800"/>
            <a:ext cx="9418320" cy="1097280"/>
          </a:xfrm>
          <a:prstGeom prst="roundRect">
            <a:avLst>
              <a:gd name="adj" fmla="val 8000"/>
            </a:avLst>
          </a:prstGeom>
          <a:solidFill>
            <a:srgbClr val="142A4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r>
              <a:rPr sz="3800" b="1">
                <a:solidFill>
                  <a:srgbClr val="F59E0B"/>
                </a:solidFill>
                <a:latin typeface="Calibri"/>
              </a:rPr>
              <a:t>P(t)  =  P_peak  ×  η  ×  I(t)  /  I_STC</a:t>
            </a:r>
          </a:p>
          <a:p>
            <a:pPr algn="ctr">
              <a:spcBef>
                <a:spcPts val="600"/>
              </a:spcBef>
            </a:pPr>
            <a:r>
              <a:rPr sz="1300" rtl="1">
                <a:solidFill>
                  <a:srgbClr val="C0C8D4"/>
                </a:solidFill>
                <a:latin typeface="Arial"/>
              </a:rPr>
              <a:t>القدرة اللحظية المُنتَجة عند الزمن  t</a:t>
            </a:r>
          </a:p>
        </p:txBody>
      </p:sp>
      <p:sp>
        <p:nvSpPr>
          <p:cNvPr id="6" name="Rounded Rectangle 5"/>
          <p:cNvSpPr/>
          <p:nvPr/>
        </p:nvSpPr>
        <p:spPr>
          <a:xfrm>
            <a:off x="640080" y="3291840"/>
            <a:ext cx="2606040" cy="2286000"/>
          </a:xfrm>
          <a:prstGeom prst="roundRect">
            <a:avLst>
              <a:gd name="adj" fmla="val 5000"/>
            </a:avLst>
          </a:prstGeom>
          <a:solidFill>
            <a:srgbClr val="1E3A5F"/>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182880" lIns="137160" rIns="137160"/>
          <a:lstStyle/>
          <a:p>
            <a:pPr algn="ctr"/>
            <a:r>
              <a:rPr sz="2400" b="1">
                <a:solidFill>
                  <a:srgbClr val="F59E0B"/>
                </a:solidFill>
                <a:latin typeface="Calibri"/>
              </a:rPr>
              <a:t>P_peak</a:t>
            </a:r>
          </a:p>
          <a:p>
            <a:pPr algn="ctr">
              <a:spcBef>
                <a:spcPts val="600"/>
              </a:spcBef>
            </a:pPr>
            <a:r>
              <a:rPr sz="1600" b="1">
                <a:solidFill>
                  <a:srgbClr val="F8FAFC"/>
                </a:solidFill>
                <a:latin typeface="Calibri"/>
              </a:rPr>
              <a:t>3.0 kWp</a:t>
            </a:r>
          </a:p>
          <a:p>
            <a:pPr algn="ctr">
              <a:spcBef>
                <a:spcPts val="1000"/>
              </a:spcBef>
            </a:pPr>
            <a:r>
              <a:rPr sz="1200" rtl="1">
                <a:solidFill>
                  <a:srgbClr val="C0C8D4"/>
                </a:solidFill>
                <a:latin typeface="Arial"/>
              </a:rPr>
              <a:t>القدرة الذروية
للألواح المركّبة</a:t>
            </a:r>
          </a:p>
        </p:txBody>
      </p:sp>
      <p:sp>
        <p:nvSpPr>
          <p:cNvPr id="7" name="Rounded Rectangle 6"/>
          <p:cNvSpPr/>
          <p:nvPr/>
        </p:nvSpPr>
        <p:spPr>
          <a:xfrm>
            <a:off x="3429000" y="3291840"/>
            <a:ext cx="2606040" cy="2286000"/>
          </a:xfrm>
          <a:prstGeom prst="roundRect">
            <a:avLst>
              <a:gd name="adj" fmla="val 5000"/>
            </a:avLst>
          </a:prstGeom>
          <a:solidFill>
            <a:srgbClr val="1E3A5F"/>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182880" lIns="137160" rIns="137160"/>
          <a:lstStyle/>
          <a:p>
            <a:pPr algn="ctr"/>
            <a:r>
              <a:rPr sz="2400" b="1">
                <a:solidFill>
                  <a:srgbClr val="F59E0B"/>
                </a:solidFill>
                <a:latin typeface="Calibri"/>
              </a:rPr>
              <a:t>η</a:t>
            </a:r>
          </a:p>
          <a:p>
            <a:pPr algn="ctr">
              <a:spcBef>
                <a:spcPts val="600"/>
              </a:spcBef>
            </a:pPr>
            <a:r>
              <a:rPr sz="1600" b="1">
                <a:solidFill>
                  <a:srgbClr val="F8FAFC"/>
                </a:solidFill>
                <a:latin typeface="Calibri"/>
              </a:rPr>
              <a:t>80%</a:t>
            </a:r>
          </a:p>
          <a:p>
            <a:pPr algn="ctr">
              <a:spcBef>
                <a:spcPts val="1000"/>
              </a:spcBef>
            </a:pPr>
            <a:r>
              <a:rPr sz="1200" rtl="1">
                <a:solidFill>
                  <a:srgbClr val="C0C8D4"/>
                </a:solidFill>
                <a:latin typeface="Arial"/>
              </a:rPr>
              <a:t>كفاءة النظام
(العاكس والأسلاك)</a:t>
            </a:r>
          </a:p>
        </p:txBody>
      </p:sp>
      <p:sp>
        <p:nvSpPr>
          <p:cNvPr id="8" name="Rounded Rectangle 7"/>
          <p:cNvSpPr/>
          <p:nvPr/>
        </p:nvSpPr>
        <p:spPr>
          <a:xfrm>
            <a:off x="6217920" y="3291840"/>
            <a:ext cx="2606040" cy="2286000"/>
          </a:xfrm>
          <a:prstGeom prst="roundRect">
            <a:avLst>
              <a:gd name="adj" fmla="val 5000"/>
            </a:avLst>
          </a:prstGeom>
          <a:solidFill>
            <a:srgbClr val="1E3A5F"/>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182880" lIns="137160" rIns="137160"/>
          <a:lstStyle/>
          <a:p>
            <a:pPr algn="ctr"/>
            <a:r>
              <a:rPr sz="2400" b="1">
                <a:solidFill>
                  <a:srgbClr val="F59E0B"/>
                </a:solidFill>
                <a:latin typeface="Calibri"/>
              </a:rPr>
              <a:t>I(t)</a:t>
            </a:r>
          </a:p>
          <a:p>
            <a:pPr algn="ctr">
              <a:spcBef>
                <a:spcPts val="600"/>
              </a:spcBef>
            </a:pPr>
            <a:r>
              <a:rPr sz="1600" b="1">
                <a:solidFill>
                  <a:srgbClr val="F8FAFC"/>
                </a:solidFill>
                <a:latin typeface="Calibri"/>
              </a:rPr>
              <a:t>0.65 – 0.95</a:t>
            </a:r>
          </a:p>
          <a:p>
            <a:pPr algn="ctr">
              <a:spcBef>
                <a:spcPts val="1000"/>
              </a:spcBef>
            </a:pPr>
            <a:r>
              <a:rPr sz="1200" rtl="1">
                <a:solidFill>
                  <a:srgbClr val="C0C8D4"/>
                </a:solidFill>
                <a:latin typeface="Arial"/>
              </a:rPr>
              <a:t>الإشعاع اللحظي
مع تقلبات موسمية</a:t>
            </a:r>
          </a:p>
        </p:txBody>
      </p:sp>
      <p:sp>
        <p:nvSpPr>
          <p:cNvPr id="9" name="Rounded Rectangle 8"/>
          <p:cNvSpPr/>
          <p:nvPr/>
        </p:nvSpPr>
        <p:spPr>
          <a:xfrm>
            <a:off x="9006839" y="3291840"/>
            <a:ext cx="2606040" cy="2286000"/>
          </a:xfrm>
          <a:prstGeom prst="roundRect">
            <a:avLst>
              <a:gd name="adj" fmla="val 5000"/>
            </a:avLst>
          </a:prstGeom>
          <a:solidFill>
            <a:srgbClr val="1E3A5F"/>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182880" lIns="137160" rIns="137160"/>
          <a:lstStyle/>
          <a:p>
            <a:pPr algn="ctr"/>
            <a:r>
              <a:rPr sz="2400" b="1">
                <a:solidFill>
                  <a:srgbClr val="F59E0B"/>
                </a:solidFill>
                <a:latin typeface="Calibri"/>
              </a:rPr>
              <a:t>I_STC</a:t>
            </a:r>
          </a:p>
          <a:p>
            <a:pPr algn="ctr">
              <a:spcBef>
                <a:spcPts val="600"/>
              </a:spcBef>
            </a:pPr>
            <a:r>
              <a:rPr sz="1600" b="1">
                <a:solidFill>
                  <a:srgbClr val="F8FAFC"/>
                </a:solidFill>
                <a:latin typeface="Calibri"/>
              </a:rPr>
              <a:t>1.0 kW/m²</a:t>
            </a:r>
          </a:p>
          <a:p>
            <a:pPr algn="ctr">
              <a:spcBef>
                <a:spcPts val="1000"/>
              </a:spcBef>
            </a:pPr>
            <a:r>
              <a:rPr sz="1200" rtl="1">
                <a:solidFill>
                  <a:srgbClr val="C0C8D4"/>
                </a:solidFill>
                <a:latin typeface="Arial"/>
              </a:rPr>
              <a:t>الإشعاع المرجعي
ظروف الاختبار المعيارية</a:t>
            </a:r>
          </a:p>
        </p:txBody>
      </p:sp>
      <p:sp>
        <p:nvSpPr>
          <p:cNvPr id="10" name="TextBox 9"/>
          <p:cNvSpPr txBox="1"/>
          <p:nvPr/>
        </p:nvSpPr>
        <p:spPr>
          <a:xfrm>
            <a:off x="640080" y="5806440"/>
            <a:ext cx="10972800" cy="457200"/>
          </a:xfrm>
          <a:prstGeom prst="rect">
            <a:avLst/>
          </a:prstGeom>
          <a:noFill/>
        </p:spPr>
        <p:txBody>
          <a:bodyPr wrap="none">
            <a:spAutoFit/>
          </a:bodyPr>
          <a:lstStyle/>
          <a:p>
            <a:pPr algn="ctr"/>
            <a:r>
              <a:rPr sz="1200" rtl="1">
                <a:solidFill>
                  <a:srgbClr val="C0C8D4"/>
                </a:solidFill>
                <a:latin typeface="Arial"/>
              </a:rPr>
              <a:t>يُطبَّق النموذج بأخذ 24 عينة يومياً مع عامل موسمي جيبي يبلغ ذروته في الانقلاب الصيفي (يوم 172)، وينتج فائضاً واقعياً يُضاف تلقائياً إلى رصيد الطاقة في المنزل.</a:t>
            </a:r>
          </a:p>
        </p:txBody>
      </p:sp>
      <p:sp>
        <p:nvSpPr>
          <p:cNvPr id="11" name="Rectangle 10"/>
          <p:cNvSpPr/>
          <p:nvPr/>
        </p:nvSpPr>
        <p:spPr>
          <a:xfrm>
            <a:off x="548640" y="6400800"/>
            <a:ext cx="11064240" cy="9525"/>
          </a:xfrm>
          <a:prstGeom prst="rect">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473952"/>
            <a:ext cx="5943600" cy="320040"/>
          </a:xfrm>
          <a:prstGeom prst="rect">
            <a:avLst/>
          </a:prstGeom>
          <a:noFill/>
        </p:spPr>
        <p:txBody>
          <a:bodyPr wrap="none" lIns="0" rIns="0">
            <a:spAutoFit/>
          </a:bodyPr>
          <a:lstStyle/>
          <a:p>
            <a:pPr algn="l"/>
            <a:r>
              <a:rPr sz="900">
                <a:solidFill>
                  <a:srgbClr val="C0C8D4"/>
                </a:solidFill>
                <a:latin typeface="Calibri"/>
              </a:rPr>
              <a:t>Solar Trading Simulation  |  Ajdabiya University</a:t>
            </a:r>
          </a:p>
        </p:txBody>
      </p:sp>
      <p:sp>
        <p:nvSpPr>
          <p:cNvPr id="13" name="TextBox 12"/>
          <p:cNvSpPr txBox="1"/>
          <p:nvPr/>
        </p:nvSpPr>
        <p:spPr>
          <a:xfrm>
            <a:off x="10241280" y="6473952"/>
            <a:ext cx="1371600" cy="320040"/>
          </a:xfrm>
          <a:prstGeom prst="rect">
            <a:avLst/>
          </a:prstGeom>
          <a:noFill/>
        </p:spPr>
        <p:txBody>
          <a:bodyPr wrap="none" lIns="0" rIns="0">
            <a:spAutoFit/>
          </a:bodyPr>
          <a:lstStyle/>
          <a:p>
            <a:pPr algn="r"/>
            <a:r>
              <a:rPr sz="1000" b="1">
                <a:solidFill>
                  <a:srgbClr val="F59E0B"/>
                </a:solidFill>
                <a:latin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2286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11064240" cy="914400"/>
          </a:xfrm>
          <a:prstGeom prst="rect">
            <a:avLst/>
          </a:prstGeom>
          <a:noFill/>
        </p:spPr>
        <p:txBody>
          <a:bodyPr wrap="square" lIns="0" rIns="0">
            <a:spAutoFit/>
          </a:bodyPr>
          <a:lstStyle/>
          <a:p>
            <a:pPr algn="r"/>
            <a:r>
              <a:rPr sz="3200" b="1" rtl="1">
                <a:solidFill>
                  <a:srgbClr val="F8FAFC"/>
                </a:solidFill>
                <a:latin typeface="Arial"/>
              </a:rPr>
              <a:t>واجهة النظام والتحديثات الحديثة</a:t>
            </a:r>
          </a:p>
          <a:p>
            <a:pPr algn="r"/>
            <a:r>
              <a:rPr sz="1300" i="1">
                <a:solidFill>
                  <a:srgbClr val="F59E0B"/>
                </a:solidFill>
                <a:latin typeface="Calibri"/>
              </a:rPr>
              <a:t>System UI, Recent Updates and Testing</a:t>
            </a:r>
          </a:p>
        </p:txBody>
      </p:sp>
      <p:sp>
        <p:nvSpPr>
          <p:cNvPr id="5" name="TextBox 4"/>
          <p:cNvSpPr txBox="1"/>
          <p:nvPr/>
        </p:nvSpPr>
        <p:spPr>
          <a:xfrm>
            <a:off x="548640" y="1783080"/>
            <a:ext cx="5852160" cy="4297680"/>
          </a:xfrm>
          <a:prstGeom prst="rect">
            <a:avLst/>
          </a:prstGeom>
          <a:noFill/>
        </p:spPr>
        <p:txBody>
          <a:bodyPr wrap="square" tIns="0" bIns="0">
            <a:spAutoFit/>
          </a:bodyPr>
          <a:lstStyle/>
          <a:p>
            <a:pPr algn="r">
              <a:spcAft>
                <a:spcPts val="1200"/>
              </a:spcAft>
            </a:pPr>
            <a:r>
              <a:rPr sz="1300" b="1">
                <a:solidFill>
                  <a:srgbClr val="F59E0B"/>
                </a:solidFill>
                <a:latin typeface="Calibri"/>
              </a:rPr>
              <a:t>▪  </a:t>
            </a:r>
            <a:r>
              <a:rPr sz="1300" rtl="1">
                <a:solidFill>
                  <a:srgbClr val="F8FAFC"/>
                </a:solidFill>
                <a:latin typeface="Arial"/>
              </a:rPr>
              <a:t>نظام تصفية جغرافي: 10 مدن ليبية وأحياء أجدابيا التفصيلية.</a:t>
            </a:r>
          </a:p>
          <a:p>
            <a:pPr algn="r">
              <a:spcAft>
                <a:spcPts val="1200"/>
              </a:spcAft>
            </a:pPr>
            <a:r>
              <a:rPr sz="1300" b="1">
                <a:solidFill>
                  <a:srgbClr val="F59E0B"/>
                </a:solidFill>
                <a:latin typeface="Calibri"/>
              </a:rPr>
              <a:t>▪  </a:t>
            </a:r>
            <a:r>
              <a:rPr sz="1300" rtl="1">
                <a:solidFill>
                  <a:srgbClr val="F8FAFC"/>
                </a:solidFill>
                <a:latin typeface="Arial"/>
              </a:rPr>
              <a:t>اختيار المدينة والحي عند التسجيل مع حقل شارع اختياري.</a:t>
            </a:r>
          </a:p>
          <a:p>
            <a:pPr algn="r">
              <a:spcAft>
                <a:spcPts val="1200"/>
              </a:spcAft>
            </a:pPr>
            <a:r>
              <a:rPr sz="1300" b="1">
                <a:solidFill>
                  <a:srgbClr val="F59E0B"/>
                </a:solidFill>
                <a:latin typeface="Calibri"/>
              </a:rPr>
              <a:t>▪  </a:t>
            </a:r>
            <a:r>
              <a:rPr sz="1300" rtl="1">
                <a:solidFill>
                  <a:srgbClr val="F8FAFC"/>
                </a:solidFill>
                <a:latin typeface="Arial"/>
              </a:rPr>
              <a:t>شحن المحفظة بخمس طرق دفع محلية: سداد، ليبيانا، المدار، تحويل بنكي، بطاقة.</a:t>
            </a:r>
          </a:p>
          <a:p>
            <a:pPr algn="r">
              <a:spcAft>
                <a:spcPts val="1200"/>
              </a:spcAft>
            </a:pPr>
            <a:r>
              <a:rPr sz="1300" b="1">
                <a:solidFill>
                  <a:srgbClr val="F59E0B"/>
                </a:solidFill>
                <a:latin typeface="Calibri"/>
              </a:rPr>
              <a:t>▪  </a:t>
            </a:r>
            <a:r>
              <a:rPr sz="1300" rtl="1">
                <a:solidFill>
                  <a:srgbClr val="F8FAFC"/>
                </a:solidFill>
                <a:latin typeface="Arial"/>
              </a:rPr>
              <a:t>لوحة إدارة (Admin) لعرض جميع المنازل وإحصائيات الشبكة.</a:t>
            </a:r>
          </a:p>
          <a:p>
            <a:pPr algn="r">
              <a:spcAft>
                <a:spcPts val="1200"/>
              </a:spcAft>
            </a:pPr>
            <a:r>
              <a:rPr sz="1300" b="1">
                <a:solidFill>
                  <a:srgbClr val="F59E0B"/>
                </a:solidFill>
                <a:latin typeface="Calibri"/>
              </a:rPr>
              <a:t>▪  </a:t>
            </a:r>
            <a:r>
              <a:rPr sz="1300" rtl="1">
                <a:solidFill>
                  <a:srgbClr val="F8FAFC"/>
                </a:solidFill>
                <a:latin typeface="Arial"/>
              </a:rPr>
              <a:t>صور رمزية ملوّنة (Avatar) بأول حرف من اسم المنزل بلون ثابت.</a:t>
            </a:r>
          </a:p>
          <a:p>
            <a:pPr algn="r">
              <a:spcAft>
                <a:spcPts val="1200"/>
              </a:spcAft>
            </a:pPr>
            <a:r>
              <a:rPr sz="1300" b="1">
                <a:solidFill>
                  <a:srgbClr val="F59E0B"/>
                </a:solidFill>
                <a:latin typeface="Calibri"/>
              </a:rPr>
              <a:t>▪  </a:t>
            </a:r>
            <a:r>
              <a:rPr sz="1300" rtl="1">
                <a:solidFill>
                  <a:srgbClr val="F8FAFC"/>
                </a:solidFill>
                <a:latin typeface="Arial"/>
              </a:rPr>
              <a:t>قسم "أمثلة السوق" في لوحة التحكم يعرض عروض بيع وطلبات شراء توضيحية.</a:t>
            </a:r>
          </a:p>
        </p:txBody>
      </p:sp>
      <p:sp>
        <p:nvSpPr>
          <p:cNvPr id="6" name="Rounded Rectangle 5"/>
          <p:cNvSpPr/>
          <p:nvPr/>
        </p:nvSpPr>
        <p:spPr>
          <a:xfrm>
            <a:off x="6675120" y="1828800"/>
            <a:ext cx="2331720" cy="1188720"/>
          </a:xfrm>
          <a:prstGeom prst="roundRect">
            <a:avLst>
              <a:gd name="adj" fmla="val 8000"/>
            </a:avLst>
          </a:prstGeom>
          <a:solidFill>
            <a:srgbClr val="142A4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r>
              <a:rPr sz="2800" b="1">
                <a:solidFill>
                  <a:srgbClr val="F59E0B"/>
                </a:solidFill>
                <a:latin typeface="Calibri"/>
              </a:rPr>
              <a:t>12 / 12</a:t>
            </a:r>
          </a:p>
          <a:p>
            <a:pPr algn="ctr">
              <a:spcBef>
                <a:spcPts val="600"/>
              </a:spcBef>
            </a:pPr>
            <a:r>
              <a:rPr sz="1200" rtl="1">
                <a:solidFill>
                  <a:srgbClr val="C0C8D4"/>
                </a:solidFill>
                <a:latin typeface="Arial"/>
              </a:rPr>
              <a:t>اختبار قبول ناجح</a:t>
            </a:r>
          </a:p>
        </p:txBody>
      </p:sp>
      <p:sp>
        <p:nvSpPr>
          <p:cNvPr id="7" name="Rounded Rectangle 6"/>
          <p:cNvSpPr/>
          <p:nvPr/>
        </p:nvSpPr>
        <p:spPr>
          <a:xfrm>
            <a:off x="9189720" y="1828800"/>
            <a:ext cx="2331720" cy="1188720"/>
          </a:xfrm>
          <a:prstGeom prst="roundRect">
            <a:avLst>
              <a:gd name="adj" fmla="val 8000"/>
            </a:avLst>
          </a:prstGeom>
          <a:solidFill>
            <a:srgbClr val="142A4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ctr"/>
            <a:r>
              <a:rPr sz="2800" b="1">
                <a:solidFill>
                  <a:srgbClr val="F59E0B"/>
                </a:solidFill>
                <a:latin typeface="Calibri"/>
              </a:rPr>
              <a:t>&lt; 1s</a:t>
            </a:r>
          </a:p>
          <a:p>
            <a:pPr algn="ctr">
              <a:spcBef>
                <a:spcPts val="600"/>
              </a:spcBef>
            </a:pPr>
            <a:r>
              <a:rPr sz="1200" rtl="1">
                <a:solidFill>
                  <a:srgbClr val="C0C8D4"/>
                </a:solidFill>
                <a:latin typeface="Arial"/>
              </a:rPr>
              <a:t>زمن التحديث الفوري</a:t>
            </a:r>
          </a:p>
        </p:txBody>
      </p:sp>
      <p:sp>
        <p:nvSpPr>
          <p:cNvPr id="8" name="Rounded Rectangle 7"/>
          <p:cNvSpPr/>
          <p:nvPr/>
        </p:nvSpPr>
        <p:spPr>
          <a:xfrm>
            <a:off x="6675120" y="3200400"/>
            <a:ext cx="4846320" cy="2880360"/>
          </a:xfrm>
          <a:prstGeom prst="roundRect">
            <a:avLst>
              <a:gd name="adj" fmla="val 5000"/>
            </a:avLst>
          </a:prstGeom>
          <a:solidFill>
            <a:srgbClr val="142A47"/>
          </a:solidFill>
          <a:ln w="12700">
            <a:solidFill>
              <a:srgbClr val="F59E0B"/>
            </a:solidFill>
            <a:prstDash val="lgDash"/>
          </a:ln>
        </p:spPr>
        <p:style>
          <a:lnRef idx="1">
            <a:schemeClr val="accent1"/>
          </a:lnRef>
          <a:fillRef idx="3">
            <a:schemeClr val="accent1"/>
          </a:fillRef>
          <a:effectRef idx="2">
            <a:schemeClr val="accent1"/>
          </a:effectRef>
          <a:fontRef idx="minor">
            <a:schemeClr val="lt1"/>
          </a:fontRef>
        </p:style>
        <p:txBody>
          <a:bodyPr rtlCol="0" anchor="ctr" tIns="914400"/>
          <a:lstStyle/>
          <a:p>
            <a:pPr algn="ctr"/>
            <a:r>
              <a:rPr sz="1400" b="1" rtl="1">
                <a:solidFill>
                  <a:srgbClr val="FBBF24"/>
                </a:solidFill>
                <a:latin typeface="Arial"/>
              </a:rPr>
              <a:t>صور الشاشات:  لوحة التحكم  |  السوق  |  الملف الشخصي</a:t>
            </a:r>
          </a:p>
          <a:p>
            <a:pPr algn="ctr">
              <a:spcBef>
                <a:spcPts val="1000"/>
              </a:spcBef>
            </a:pPr>
            <a:r>
              <a:rPr sz="1100" rtl="1">
                <a:solidFill>
                  <a:srgbClr val="C0C8D4"/>
                </a:solidFill>
                <a:latin typeface="Arial"/>
              </a:rPr>
              <a:t>يُدرَج هنا نموذج مصوّر للواجهة على الحاسوب والهاتف</a:t>
            </a:r>
          </a:p>
        </p:txBody>
      </p:sp>
      <p:sp>
        <p:nvSpPr>
          <p:cNvPr id="9" name="TextBox 8"/>
          <p:cNvSpPr txBox="1"/>
          <p:nvPr/>
        </p:nvSpPr>
        <p:spPr>
          <a:xfrm>
            <a:off x="548640" y="5943600"/>
            <a:ext cx="11064240" cy="365760"/>
          </a:xfrm>
          <a:prstGeom prst="rect">
            <a:avLst/>
          </a:prstGeom>
          <a:noFill/>
        </p:spPr>
        <p:txBody>
          <a:bodyPr wrap="none">
            <a:spAutoFit/>
          </a:bodyPr>
          <a:lstStyle/>
          <a:p>
            <a:pPr algn="ctr"/>
            <a:r>
              <a:rPr sz="1200" rtl="1">
                <a:solidFill>
                  <a:srgbClr val="C0C8D4"/>
                </a:solidFill>
                <a:latin typeface="Arial"/>
              </a:rPr>
              <a:t>المشروع منشور مباشرةً على:  </a:t>
            </a:r>
            <a:r>
              <a:rPr sz="1300" b="1">
                <a:solidFill>
                  <a:srgbClr val="F59E0B"/>
                </a:solidFill>
                <a:latin typeface="Calibri"/>
              </a:rPr>
              <a:t>https://p2penergy-coral.vercel.app</a:t>
            </a:r>
          </a:p>
        </p:txBody>
      </p:sp>
      <p:sp>
        <p:nvSpPr>
          <p:cNvPr id="10" name="Rectangle 9"/>
          <p:cNvSpPr/>
          <p:nvPr/>
        </p:nvSpPr>
        <p:spPr>
          <a:xfrm>
            <a:off x="548640" y="6400800"/>
            <a:ext cx="11064240" cy="9525"/>
          </a:xfrm>
          <a:prstGeom prst="rect">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473952"/>
            <a:ext cx="5943600" cy="320040"/>
          </a:xfrm>
          <a:prstGeom prst="rect">
            <a:avLst/>
          </a:prstGeom>
          <a:noFill/>
        </p:spPr>
        <p:txBody>
          <a:bodyPr wrap="none" lIns="0" rIns="0">
            <a:spAutoFit/>
          </a:bodyPr>
          <a:lstStyle/>
          <a:p>
            <a:pPr algn="l"/>
            <a:r>
              <a:rPr sz="900">
                <a:solidFill>
                  <a:srgbClr val="C0C8D4"/>
                </a:solidFill>
                <a:latin typeface="Calibri"/>
              </a:rPr>
              <a:t>Solar Trading Simulation  |  Ajdabiya University</a:t>
            </a:r>
          </a:p>
        </p:txBody>
      </p:sp>
      <p:sp>
        <p:nvSpPr>
          <p:cNvPr id="12" name="TextBox 11"/>
          <p:cNvSpPr txBox="1"/>
          <p:nvPr/>
        </p:nvSpPr>
        <p:spPr>
          <a:xfrm>
            <a:off x="10241280" y="6473952"/>
            <a:ext cx="1371600" cy="320040"/>
          </a:xfrm>
          <a:prstGeom prst="rect">
            <a:avLst/>
          </a:prstGeom>
          <a:noFill/>
        </p:spPr>
        <p:txBody>
          <a:bodyPr wrap="none" lIns="0" rIns="0">
            <a:spAutoFit/>
          </a:bodyPr>
          <a:lstStyle/>
          <a:p>
            <a:pPr algn="r"/>
            <a:r>
              <a:rPr sz="1000" b="1">
                <a:solidFill>
                  <a:srgbClr val="F59E0B"/>
                </a:solidFill>
                <a:latin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2286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11064240" cy="914400"/>
          </a:xfrm>
          <a:prstGeom prst="rect">
            <a:avLst/>
          </a:prstGeom>
          <a:noFill/>
        </p:spPr>
        <p:txBody>
          <a:bodyPr wrap="square" lIns="0" rIns="0">
            <a:spAutoFit/>
          </a:bodyPr>
          <a:lstStyle/>
          <a:p>
            <a:pPr algn="r"/>
            <a:r>
              <a:rPr sz="3200" b="1" rtl="1">
                <a:solidFill>
                  <a:srgbClr val="F8FAFC"/>
                </a:solidFill>
                <a:latin typeface="Arial"/>
              </a:rPr>
              <a:t>الخاتمة  والتوصيات المستقبلية</a:t>
            </a:r>
          </a:p>
          <a:p>
            <a:pPr algn="r"/>
            <a:r>
              <a:rPr sz="1300" i="1">
                <a:solidFill>
                  <a:srgbClr val="F59E0B"/>
                </a:solidFill>
                <a:latin typeface="Calibri"/>
              </a:rPr>
              <a:t>Conclusion and Future Scope</a:t>
            </a:r>
          </a:p>
        </p:txBody>
      </p:sp>
      <p:sp>
        <p:nvSpPr>
          <p:cNvPr id="5" name="Rounded Rectangle 4"/>
          <p:cNvSpPr/>
          <p:nvPr/>
        </p:nvSpPr>
        <p:spPr>
          <a:xfrm>
            <a:off x="548640" y="1783080"/>
            <a:ext cx="11064240" cy="1188720"/>
          </a:xfrm>
          <a:prstGeom prst="roundRect">
            <a:avLst>
              <a:gd name="adj" fmla="val 5000"/>
            </a:avLst>
          </a:prstGeom>
          <a:solidFill>
            <a:srgbClr val="142A47"/>
          </a:solidFill>
          <a:ln w="1587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365760" rIns="365760" tIns="182880" wrap="square"/>
          <a:lstStyle/>
          <a:p>
            <a:pPr algn="r"/>
            <a:r>
              <a:rPr sz="2000" b="1" rtl="1">
                <a:solidFill>
                  <a:srgbClr val="FBBF24"/>
                </a:solidFill>
                <a:latin typeface="Arial"/>
              </a:rPr>
              <a:t>الخلاصة</a:t>
            </a:r>
          </a:p>
          <a:p>
            <a:pPr algn="r">
              <a:spcBef>
                <a:spcPts val="800"/>
              </a:spcBef>
            </a:pPr>
            <a:r>
              <a:rPr sz="1300" rtl="1">
                <a:solidFill>
                  <a:srgbClr val="F8FAFC"/>
                </a:solidFill>
                <a:latin typeface="Arial"/>
              </a:rPr>
              <a:t>أثبت المشروع الجدوى التقنية لبناء منظومة رقمية تُدير تداول الطاقة الشمسية بين المنازل الليبية بشفافية وأمان، عبر بنية سحابية بسيطة وفعّالة تلائم البيئة الأكاديمية والتطويرية.</a:t>
            </a:r>
          </a:p>
        </p:txBody>
      </p:sp>
      <p:sp>
        <p:nvSpPr>
          <p:cNvPr id="6" name="TextBox 5"/>
          <p:cNvSpPr txBox="1"/>
          <p:nvPr/>
        </p:nvSpPr>
        <p:spPr>
          <a:xfrm>
            <a:off x="548640" y="3154680"/>
            <a:ext cx="11064240" cy="457200"/>
          </a:xfrm>
          <a:prstGeom prst="rect">
            <a:avLst/>
          </a:prstGeom>
          <a:noFill/>
        </p:spPr>
        <p:txBody>
          <a:bodyPr wrap="none">
            <a:spAutoFit/>
          </a:bodyPr>
          <a:lstStyle/>
          <a:p>
            <a:pPr algn="r"/>
            <a:r>
              <a:rPr sz="2000" b="1" rtl="1">
                <a:solidFill>
                  <a:srgbClr val="F59E0B"/>
                </a:solidFill>
                <a:latin typeface="Arial"/>
              </a:rPr>
              <a:t>التوصيات والتوسّعات المستقبلية</a:t>
            </a:r>
          </a:p>
        </p:txBody>
      </p:sp>
      <p:sp>
        <p:nvSpPr>
          <p:cNvPr id="7" name="Rounded Rectangle 6"/>
          <p:cNvSpPr/>
          <p:nvPr/>
        </p:nvSpPr>
        <p:spPr>
          <a:xfrm>
            <a:off x="548640" y="3703320"/>
            <a:ext cx="3566160" cy="1188720"/>
          </a:xfrm>
          <a:prstGeom prst="roundRect">
            <a:avLst>
              <a:gd name="adj" fmla="val 8000"/>
            </a:avLst>
          </a:prstGeom>
          <a:solidFill>
            <a:srgbClr val="142A47"/>
          </a:solidFill>
          <a:ln w="762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wrap="square"/>
          <a:lstStyle/>
          <a:p>
            <a:pPr algn="r"/>
            <a:r>
              <a:rPr sz="1400" b="1" rtl="1">
                <a:solidFill>
                  <a:srgbClr val="FBBF24"/>
                </a:solidFill>
                <a:latin typeface="Arial"/>
              </a:rPr>
              <a:t>العدادات الذكية</a:t>
            </a:r>
          </a:p>
          <a:p>
            <a:pPr algn="r">
              <a:spcBef>
                <a:spcPts val="400"/>
              </a:spcBef>
            </a:pPr>
            <a:r>
              <a:rPr sz="1100" rtl="1">
                <a:solidFill>
                  <a:srgbClr val="F8FAFC"/>
                </a:solidFill>
                <a:latin typeface="Arial"/>
              </a:rPr>
              <a:t>ربط النظام بعدادات كهربائية فعلية لقياس الإنتاج والاستهلاك في الوقت الحقيقي.</a:t>
            </a:r>
          </a:p>
        </p:txBody>
      </p:sp>
      <p:sp>
        <p:nvSpPr>
          <p:cNvPr id="8" name="Rounded Rectangle 7"/>
          <p:cNvSpPr/>
          <p:nvPr/>
        </p:nvSpPr>
        <p:spPr>
          <a:xfrm>
            <a:off x="4251959" y="3703320"/>
            <a:ext cx="3566160" cy="1188720"/>
          </a:xfrm>
          <a:prstGeom prst="roundRect">
            <a:avLst>
              <a:gd name="adj" fmla="val 8000"/>
            </a:avLst>
          </a:prstGeom>
          <a:solidFill>
            <a:srgbClr val="142A47"/>
          </a:solidFill>
          <a:ln w="762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wrap="square"/>
          <a:lstStyle/>
          <a:p>
            <a:pPr algn="r"/>
            <a:r>
              <a:rPr sz="1400" b="1" rtl="1">
                <a:solidFill>
                  <a:srgbClr val="FBBF24"/>
                </a:solidFill>
                <a:latin typeface="Arial"/>
              </a:rPr>
              <a:t>التسعير الديناميكي</a:t>
            </a:r>
          </a:p>
          <a:p>
            <a:pPr algn="r">
              <a:spcBef>
                <a:spcPts val="400"/>
              </a:spcBef>
            </a:pPr>
            <a:r>
              <a:rPr sz="1100" rtl="1">
                <a:solidFill>
                  <a:srgbClr val="F8FAFC"/>
                </a:solidFill>
                <a:latin typeface="Arial"/>
              </a:rPr>
              <a:t>خوارزمية تعتمد على العرض والطلب والوقت لتحديد سعر عادل للكيلوواط.</a:t>
            </a:r>
          </a:p>
        </p:txBody>
      </p:sp>
      <p:sp>
        <p:nvSpPr>
          <p:cNvPr id="9" name="Rounded Rectangle 8"/>
          <p:cNvSpPr/>
          <p:nvPr/>
        </p:nvSpPr>
        <p:spPr>
          <a:xfrm>
            <a:off x="7955279" y="3703320"/>
            <a:ext cx="3566160" cy="1188720"/>
          </a:xfrm>
          <a:prstGeom prst="roundRect">
            <a:avLst>
              <a:gd name="adj" fmla="val 8000"/>
            </a:avLst>
          </a:prstGeom>
          <a:solidFill>
            <a:srgbClr val="142A47"/>
          </a:solidFill>
          <a:ln w="762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wrap="square"/>
          <a:lstStyle/>
          <a:p>
            <a:pPr algn="r"/>
            <a:r>
              <a:rPr sz="1400" b="1" rtl="1">
                <a:solidFill>
                  <a:srgbClr val="FBBF24"/>
                </a:solidFill>
                <a:latin typeface="Arial"/>
              </a:rPr>
              <a:t>خرائط Google</a:t>
            </a:r>
          </a:p>
          <a:p>
            <a:pPr algn="r">
              <a:spcBef>
                <a:spcPts val="400"/>
              </a:spcBef>
            </a:pPr>
            <a:r>
              <a:rPr sz="1100" rtl="1">
                <a:solidFill>
                  <a:srgbClr val="F8FAFC"/>
                </a:solidFill>
                <a:latin typeface="Arial"/>
              </a:rPr>
              <a:t>تحديد الموقع الجغرافي الدقيق للمنزل عبر التكامل مع خرائط Google.</a:t>
            </a:r>
          </a:p>
        </p:txBody>
      </p:sp>
      <p:sp>
        <p:nvSpPr>
          <p:cNvPr id="10" name="Rounded Rectangle 9"/>
          <p:cNvSpPr/>
          <p:nvPr/>
        </p:nvSpPr>
        <p:spPr>
          <a:xfrm>
            <a:off x="548640" y="5029200"/>
            <a:ext cx="3566160" cy="1188720"/>
          </a:xfrm>
          <a:prstGeom prst="roundRect">
            <a:avLst>
              <a:gd name="adj" fmla="val 8000"/>
            </a:avLst>
          </a:prstGeom>
          <a:solidFill>
            <a:srgbClr val="142A47"/>
          </a:solidFill>
          <a:ln w="762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wrap="square"/>
          <a:lstStyle/>
          <a:p>
            <a:pPr algn="r"/>
            <a:r>
              <a:rPr sz="1400" b="1" rtl="1">
                <a:solidFill>
                  <a:srgbClr val="FBBF24"/>
                </a:solidFill>
                <a:latin typeface="Arial"/>
              </a:rPr>
              <a:t>توسّع الشبكة</a:t>
            </a:r>
          </a:p>
          <a:p>
            <a:pPr algn="r">
              <a:spcBef>
                <a:spcPts val="400"/>
              </a:spcBef>
            </a:pPr>
            <a:r>
              <a:rPr sz="1100" rtl="1">
                <a:solidFill>
                  <a:srgbClr val="F8FAFC"/>
                </a:solidFill>
                <a:latin typeface="Arial"/>
              </a:rPr>
              <a:t>رفع عدد المنازل المشاركة إلى مستوى الحي كامل ثم المدينة.</a:t>
            </a:r>
          </a:p>
        </p:txBody>
      </p:sp>
      <p:sp>
        <p:nvSpPr>
          <p:cNvPr id="11" name="Rounded Rectangle 10"/>
          <p:cNvSpPr/>
          <p:nvPr/>
        </p:nvSpPr>
        <p:spPr>
          <a:xfrm>
            <a:off x="4251959" y="5029200"/>
            <a:ext cx="3566160" cy="1188720"/>
          </a:xfrm>
          <a:prstGeom prst="roundRect">
            <a:avLst>
              <a:gd name="adj" fmla="val 8000"/>
            </a:avLst>
          </a:prstGeom>
          <a:solidFill>
            <a:srgbClr val="142A47"/>
          </a:solidFill>
          <a:ln w="762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wrap="square"/>
          <a:lstStyle/>
          <a:p>
            <a:pPr algn="r"/>
            <a:r>
              <a:rPr sz="1400" b="1" rtl="1">
                <a:solidFill>
                  <a:srgbClr val="FBBF24"/>
                </a:solidFill>
                <a:latin typeface="Arial"/>
              </a:rPr>
              <a:t>التطبيق المحمول</a:t>
            </a:r>
          </a:p>
          <a:p>
            <a:pPr algn="r">
              <a:spcBef>
                <a:spcPts val="400"/>
              </a:spcBef>
            </a:pPr>
            <a:r>
              <a:rPr sz="1100" rtl="1">
                <a:solidFill>
                  <a:srgbClr val="F8FAFC"/>
                </a:solidFill>
                <a:latin typeface="Arial"/>
              </a:rPr>
              <a:t>إصدار تطبيق أصلي لأجهزة Android و iOS مع إشعارات فورية.</a:t>
            </a:r>
          </a:p>
        </p:txBody>
      </p:sp>
      <p:sp>
        <p:nvSpPr>
          <p:cNvPr id="12" name="Rounded Rectangle 11"/>
          <p:cNvSpPr/>
          <p:nvPr/>
        </p:nvSpPr>
        <p:spPr>
          <a:xfrm>
            <a:off x="7955279" y="5029200"/>
            <a:ext cx="3566160" cy="1188720"/>
          </a:xfrm>
          <a:prstGeom prst="roundRect">
            <a:avLst>
              <a:gd name="adj" fmla="val 8000"/>
            </a:avLst>
          </a:prstGeom>
          <a:solidFill>
            <a:srgbClr val="142A47"/>
          </a:solidFill>
          <a:ln w="762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wrap="square"/>
          <a:lstStyle/>
          <a:p>
            <a:pPr algn="r"/>
            <a:r>
              <a:rPr sz="1400" b="1" rtl="1">
                <a:solidFill>
                  <a:srgbClr val="FBBF24"/>
                </a:solidFill>
                <a:latin typeface="Arial"/>
              </a:rPr>
              <a:t>الذكاء الاصطناعي</a:t>
            </a:r>
          </a:p>
          <a:p>
            <a:pPr algn="r">
              <a:spcBef>
                <a:spcPts val="400"/>
              </a:spcBef>
            </a:pPr>
            <a:r>
              <a:rPr sz="1100" rtl="1">
                <a:solidFill>
                  <a:srgbClr val="F8FAFC"/>
                </a:solidFill>
                <a:latin typeface="Arial"/>
              </a:rPr>
              <a:t>توقع الإنتاج والاستهلاك عبر نماذج تعلّم آلي لتحسين قرار البيع.</a:t>
            </a:r>
          </a:p>
        </p:txBody>
      </p:sp>
      <p:sp>
        <p:nvSpPr>
          <p:cNvPr id="13" name="Rounded Rectangle 12"/>
          <p:cNvSpPr/>
          <p:nvPr/>
        </p:nvSpPr>
        <p:spPr>
          <a:xfrm>
            <a:off x="3200400" y="6263640"/>
            <a:ext cx="5760720" cy="320040"/>
          </a:xfrm>
          <a:prstGeom prst="roundRect">
            <a:avLst>
              <a:gd name="adj" fmla="val 4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tIns="0"/>
          <a:lstStyle/>
          <a:p>
            <a:pPr algn="ctr"/>
            <a:r>
              <a:rPr sz="1300" b="1" rtl="1">
                <a:solidFill>
                  <a:srgbClr val="0B1E36"/>
                </a:solidFill>
                <a:latin typeface="Arial"/>
              </a:rPr>
              <a:t>شكراً لحسن استماعكم  —  Thank You</a:t>
            </a:r>
          </a:p>
        </p:txBody>
      </p:sp>
      <p:sp>
        <p:nvSpPr>
          <p:cNvPr id="14" name="Rectangle 13"/>
          <p:cNvSpPr/>
          <p:nvPr/>
        </p:nvSpPr>
        <p:spPr>
          <a:xfrm>
            <a:off x="548640" y="6400800"/>
            <a:ext cx="11064240" cy="9525"/>
          </a:xfrm>
          <a:prstGeom prst="rect">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473952"/>
            <a:ext cx="5943600" cy="320040"/>
          </a:xfrm>
          <a:prstGeom prst="rect">
            <a:avLst/>
          </a:prstGeom>
          <a:noFill/>
        </p:spPr>
        <p:txBody>
          <a:bodyPr wrap="none" lIns="0" rIns="0">
            <a:spAutoFit/>
          </a:bodyPr>
          <a:lstStyle/>
          <a:p>
            <a:pPr algn="l"/>
            <a:r>
              <a:rPr sz="900">
                <a:solidFill>
                  <a:srgbClr val="C0C8D4"/>
                </a:solidFill>
                <a:latin typeface="Calibri"/>
              </a:rPr>
              <a:t>Solar Trading Simulation  |  Ajdabiya University</a:t>
            </a:r>
          </a:p>
        </p:txBody>
      </p:sp>
      <p:sp>
        <p:nvSpPr>
          <p:cNvPr id="16" name="TextBox 15"/>
          <p:cNvSpPr txBox="1"/>
          <p:nvPr/>
        </p:nvSpPr>
        <p:spPr>
          <a:xfrm>
            <a:off x="10241280" y="6473952"/>
            <a:ext cx="1371600" cy="320040"/>
          </a:xfrm>
          <a:prstGeom prst="rect">
            <a:avLst/>
          </a:prstGeom>
          <a:noFill/>
        </p:spPr>
        <p:txBody>
          <a:bodyPr wrap="none" lIns="0" rIns="0">
            <a:spAutoFit/>
          </a:bodyPr>
          <a:lstStyle/>
          <a:p>
            <a:pPr algn="r"/>
            <a:r>
              <a:rPr sz="1000" b="1">
                <a:solidFill>
                  <a:srgbClr val="F59E0B"/>
                </a:solidFill>
                <a:latin typeface="Calibri"/>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